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9" r:id="rId25"/>
    <p:sldId id="279" r:id="rId26"/>
    <p:sldId id="280" r:id="rId27"/>
    <p:sldId id="281" r:id="rId28"/>
    <p:sldId id="282" r:id="rId29"/>
    <p:sldId id="283" r:id="rId30"/>
    <p:sldId id="284" r:id="rId31"/>
    <p:sldId id="286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98D19A-D294-48B0-A090-FA3F62BD1B3C}" v="139" dt="2026-10-14T09:19:46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e COQUET" userId="cbfcb67a-bcbd-4d0c-90ed-5a04cb35aa62" providerId="ADAL" clId="{93A0542B-6375-47B1-AA18-DCF196BC4F39}"/>
    <pc:docChg chg="undo custSel addSld delSld modSld">
      <pc:chgData name="Maxime COQUET" userId="cbfcb67a-bcbd-4d0c-90ed-5a04cb35aa62" providerId="ADAL" clId="{93A0542B-6375-47B1-AA18-DCF196BC4F39}" dt="2026-10-14T09:19:46.761" v="183" actId="20577"/>
      <pc:docMkLst>
        <pc:docMk/>
      </pc:docMkLst>
      <pc:sldChg chg="modTransition">
        <pc:chgData name="Maxime COQUET" userId="cbfcb67a-bcbd-4d0c-90ed-5a04cb35aa62" providerId="ADAL" clId="{93A0542B-6375-47B1-AA18-DCF196BC4F39}" dt="2026-10-13T19:08:29.870" v="0"/>
        <pc:sldMkLst>
          <pc:docMk/>
          <pc:sldMk cId="0" sldId="256"/>
        </pc:sldMkLst>
      </pc:sldChg>
      <pc:sldChg chg="modTransition modAnim">
        <pc:chgData name="Maxime COQUET" userId="cbfcb67a-bcbd-4d0c-90ed-5a04cb35aa62" providerId="ADAL" clId="{93A0542B-6375-47B1-AA18-DCF196BC4F39}" dt="2026-10-13T19:09:26.816" v="13"/>
        <pc:sldMkLst>
          <pc:docMk/>
          <pc:sldMk cId="0" sldId="257"/>
        </pc:sldMkLst>
      </pc:sldChg>
      <pc:sldChg chg="modTransition">
        <pc:chgData name="Maxime COQUET" userId="cbfcb67a-bcbd-4d0c-90ed-5a04cb35aa62" providerId="ADAL" clId="{93A0542B-6375-47B1-AA18-DCF196BC4F39}" dt="2026-10-13T19:09:46.262" v="14"/>
        <pc:sldMkLst>
          <pc:docMk/>
          <pc:sldMk cId="0" sldId="258"/>
        </pc:sldMkLst>
      </pc:sldChg>
      <pc:sldChg chg="modTransition">
        <pc:chgData name="Maxime COQUET" userId="cbfcb67a-bcbd-4d0c-90ed-5a04cb35aa62" providerId="ADAL" clId="{93A0542B-6375-47B1-AA18-DCF196BC4F39}" dt="2026-10-13T19:09:48.121" v="15"/>
        <pc:sldMkLst>
          <pc:docMk/>
          <pc:sldMk cId="0" sldId="259"/>
        </pc:sldMkLst>
      </pc:sldChg>
      <pc:sldChg chg="modTransition">
        <pc:chgData name="Maxime COQUET" userId="cbfcb67a-bcbd-4d0c-90ed-5a04cb35aa62" providerId="ADAL" clId="{93A0542B-6375-47B1-AA18-DCF196BC4F39}" dt="2026-10-13T19:09:49.254" v="16"/>
        <pc:sldMkLst>
          <pc:docMk/>
          <pc:sldMk cId="0" sldId="260"/>
        </pc:sldMkLst>
      </pc:sldChg>
      <pc:sldChg chg="modTransition">
        <pc:chgData name="Maxime COQUET" userId="cbfcb67a-bcbd-4d0c-90ed-5a04cb35aa62" providerId="ADAL" clId="{93A0542B-6375-47B1-AA18-DCF196BC4F39}" dt="2026-10-13T19:09:50.246" v="17"/>
        <pc:sldMkLst>
          <pc:docMk/>
          <pc:sldMk cId="0" sldId="261"/>
        </pc:sldMkLst>
      </pc:sldChg>
      <pc:sldChg chg="modTransition">
        <pc:chgData name="Maxime COQUET" userId="cbfcb67a-bcbd-4d0c-90ed-5a04cb35aa62" providerId="ADAL" clId="{93A0542B-6375-47B1-AA18-DCF196BC4F39}" dt="2026-10-13T19:09:51.337" v="18"/>
        <pc:sldMkLst>
          <pc:docMk/>
          <pc:sldMk cId="0" sldId="262"/>
        </pc:sldMkLst>
      </pc:sldChg>
      <pc:sldChg chg="modTransition">
        <pc:chgData name="Maxime COQUET" userId="cbfcb67a-bcbd-4d0c-90ed-5a04cb35aa62" providerId="ADAL" clId="{93A0542B-6375-47B1-AA18-DCF196BC4F39}" dt="2026-10-13T19:09:52.499" v="19"/>
        <pc:sldMkLst>
          <pc:docMk/>
          <pc:sldMk cId="0" sldId="263"/>
        </pc:sldMkLst>
      </pc:sldChg>
      <pc:sldChg chg="modTransition">
        <pc:chgData name="Maxime COQUET" userId="cbfcb67a-bcbd-4d0c-90ed-5a04cb35aa62" providerId="ADAL" clId="{93A0542B-6375-47B1-AA18-DCF196BC4F39}" dt="2026-10-13T19:09:53.902" v="20"/>
        <pc:sldMkLst>
          <pc:docMk/>
          <pc:sldMk cId="0" sldId="264"/>
        </pc:sldMkLst>
      </pc:sldChg>
      <pc:sldChg chg="modTransition">
        <pc:chgData name="Maxime COQUET" userId="cbfcb67a-bcbd-4d0c-90ed-5a04cb35aa62" providerId="ADAL" clId="{93A0542B-6375-47B1-AA18-DCF196BC4F39}" dt="2026-10-13T19:09:55.107" v="21"/>
        <pc:sldMkLst>
          <pc:docMk/>
          <pc:sldMk cId="0" sldId="265"/>
        </pc:sldMkLst>
      </pc:sldChg>
      <pc:sldChg chg="modTransition">
        <pc:chgData name="Maxime COQUET" userId="cbfcb67a-bcbd-4d0c-90ed-5a04cb35aa62" providerId="ADAL" clId="{93A0542B-6375-47B1-AA18-DCF196BC4F39}" dt="2026-10-13T19:09:56.176" v="22"/>
        <pc:sldMkLst>
          <pc:docMk/>
          <pc:sldMk cId="0" sldId="266"/>
        </pc:sldMkLst>
      </pc:sldChg>
      <pc:sldChg chg="modSp mod modTransition">
        <pc:chgData name="Maxime COQUET" userId="cbfcb67a-bcbd-4d0c-90ed-5a04cb35aa62" providerId="ADAL" clId="{93A0542B-6375-47B1-AA18-DCF196BC4F39}" dt="2026-10-13T19:15:36.182" v="119" actId="20577"/>
        <pc:sldMkLst>
          <pc:docMk/>
          <pc:sldMk cId="0" sldId="267"/>
        </pc:sldMkLst>
        <pc:spChg chg="mod">
          <ac:chgData name="Maxime COQUET" userId="cbfcb67a-bcbd-4d0c-90ed-5a04cb35aa62" providerId="ADAL" clId="{93A0542B-6375-47B1-AA18-DCF196BC4F39}" dt="2026-10-13T19:15:36.182" v="119" actId="20577"/>
          <ac:spMkLst>
            <pc:docMk/>
            <pc:sldMk cId="0" sldId="267"/>
            <ac:spMk id="13" creationId="{00000000-0000-0000-0000-000000000000}"/>
          </ac:spMkLst>
        </pc:spChg>
      </pc:sldChg>
      <pc:sldChg chg="modSp mod modTransition">
        <pc:chgData name="Maxime COQUET" userId="cbfcb67a-bcbd-4d0c-90ed-5a04cb35aa62" providerId="ADAL" clId="{93A0542B-6375-47B1-AA18-DCF196BC4F39}" dt="2026-10-13T19:16:21.320" v="121" actId="20577"/>
        <pc:sldMkLst>
          <pc:docMk/>
          <pc:sldMk cId="0" sldId="268"/>
        </pc:sldMkLst>
        <pc:spChg chg="mod">
          <ac:chgData name="Maxime COQUET" userId="cbfcb67a-bcbd-4d0c-90ed-5a04cb35aa62" providerId="ADAL" clId="{93A0542B-6375-47B1-AA18-DCF196BC4F39}" dt="2026-10-13T19:16:21.320" v="121" actId="20577"/>
          <ac:spMkLst>
            <pc:docMk/>
            <pc:sldMk cId="0" sldId="268"/>
            <ac:spMk id="10" creationId="{00000000-0000-0000-0000-000000000000}"/>
          </ac:spMkLst>
        </pc:spChg>
      </pc:sldChg>
      <pc:sldChg chg="modTransition">
        <pc:chgData name="Maxime COQUET" userId="cbfcb67a-bcbd-4d0c-90ed-5a04cb35aa62" providerId="ADAL" clId="{93A0542B-6375-47B1-AA18-DCF196BC4F39}" dt="2026-10-13T19:09:59.613" v="25"/>
        <pc:sldMkLst>
          <pc:docMk/>
          <pc:sldMk cId="0" sldId="269"/>
        </pc:sldMkLst>
      </pc:sldChg>
      <pc:sldChg chg="modTransition">
        <pc:chgData name="Maxime COQUET" userId="cbfcb67a-bcbd-4d0c-90ed-5a04cb35aa62" providerId="ADAL" clId="{93A0542B-6375-47B1-AA18-DCF196BC4F39}" dt="2026-10-13T19:10:00.871" v="26"/>
        <pc:sldMkLst>
          <pc:docMk/>
          <pc:sldMk cId="0" sldId="270"/>
        </pc:sldMkLst>
      </pc:sldChg>
      <pc:sldChg chg="modSp mod modTransition">
        <pc:chgData name="Maxime COQUET" userId="cbfcb67a-bcbd-4d0c-90ed-5a04cb35aa62" providerId="ADAL" clId="{93A0542B-6375-47B1-AA18-DCF196BC4F39}" dt="2026-10-14T09:19:46.761" v="183" actId="20577"/>
        <pc:sldMkLst>
          <pc:docMk/>
          <pc:sldMk cId="0" sldId="271"/>
        </pc:sldMkLst>
        <pc:spChg chg="mod">
          <ac:chgData name="Maxime COQUET" userId="cbfcb67a-bcbd-4d0c-90ed-5a04cb35aa62" providerId="ADAL" clId="{93A0542B-6375-47B1-AA18-DCF196BC4F39}" dt="2026-10-14T09:19:46.761" v="183" actId="20577"/>
          <ac:spMkLst>
            <pc:docMk/>
            <pc:sldMk cId="0" sldId="271"/>
            <ac:spMk id="9" creationId="{00000000-0000-0000-0000-000000000000}"/>
          </ac:spMkLst>
        </pc:spChg>
      </pc:sldChg>
      <pc:sldChg chg="modTransition">
        <pc:chgData name="Maxime COQUET" userId="cbfcb67a-bcbd-4d0c-90ed-5a04cb35aa62" providerId="ADAL" clId="{93A0542B-6375-47B1-AA18-DCF196BC4F39}" dt="2026-10-13T19:10:03.316" v="28"/>
        <pc:sldMkLst>
          <pc:docMk/>
          <pc:sldMk cId="0" sldId="272"/>
        </pc:sldMkLst>
      </pc:sldChg>
      <pc:sldChg chg="modTransition">
        <pc:chgData name="Maxime COQUET" userId="cbfcb67a-bcbd-4d0c-90ed-5a04cb35aa62" providerId="ADAL" clId="{93A0542B-6375-47B1-AA18-DCF196BC4F39}" dt="2026-10-13T19:10:04.398" v="29"/>
        <pc:sldMkLst>
          <pc:docMk/>
          <pc:sldMk cId="0" sldId="273"/>
        </pc:sldMkLst>
      </pc:sldChg>
      <pc:sldChg chg="modTransition">
        <pc:chgData name="Maxime COQUET" userId="cbfcb67a-bcbd-4d0c-90ed-5a04cb35aa62" providerId="ADAL" clId="{93A0542B-6375-47B1-AA18-DCF196BC4F39}" dt="2026-10-13T19:10:05.468" v="30"/>
        <pc:sldMkLst>
          <pc:docMk/>
          <pc:sldMk cId="0" sldId="274"/>
        </pc:sldMkLst>
      </pc:sldChg>
      <pc:sldChg chg="modTransition">
        <pc:chgData name="Maxime COQUET" userId="cbfcb67a-bcbd-4d0c-90ed-5a04cb35aa62" providerId="ADAL" clId="{93A0542B-6375-47B1-AA18-DCF196BC4F39}" dt="2026-10-13T19:10:10.862" v="31"/>
        <pc:sldMkLst>
          <pc:docMk/>
          <pc:sldMk cId="0" sldId="275"/>
        </pc:sldMkLst>
      </pc:sldChg>
      <pc:sldChg chg="modTransition">
        <pc:chgData name="Maxime COQUET" userId="cbfcb67a-bcbd-4d0c-90ed-5a04cb35aa62" providerId="ADAL" clId="{93A0542B-6375-47B1-AA18-DCF196BC4F39}" dt="2026-10-13T19:10:12.722" v="32"/>
        <pc:sldMkLst>
          <pc:docMk/>
          <pc:sldMk cId="0" sldId="276"/>
        </pc:sldMkLst>
      </pc:sldChg>
      <pc:sldChg chg="modTransition">
        <pc:chgData name="Maxime COQUET" userId="cbfcb67a-bcbd-4d0c-90ed-5a04cb35aa62" providerId="ADAL" clId="{93A0542B-6375-47B1-AA18-DCF196BC4F39}" dt="2026-10-13T19:10:13.806" v="33"/>
        <pc:sldMkLst>
          <pc:docMk/>
          <pc:sldMk cId="0" sldId="277"/>
        </pc:sldMkLst>
      </pc:sldChg>
      <pc:sldChg chg="modSp mod modTransition">
        <pc:chgData name="Maxime COQUET" userId="cbfcb67a-bcbd-4d0c-90ed-5a04cb35aa62" providerId="ADAL" clId="{93A0542B-6375-47B1-AA18-DCF196BC4F39}" dt="2026-10-13T19:11:13.598" v="42" actId="207"/>
        <pc:sldMkLst>
          <pc:docMk/>
          <pc:sldMk cId="0" sldId="278"/>
        </pc:sldMkLst>
        <pc:spChg chg="mod">
          <ac:chgData name="Maxime COQUET" userId="cbfcb67a-bcbd-4d0c-90ed-5a04cb35aa62" providerId="ADAL" clId="{93A0542B-6375-47B1-AA18-DCF196BC4F39}" dt="2026-10-13T19:11:13.598" v="42" actId="207"/>
          <ac:spMkLst>
            <pc:docMk/>
            <pc:sldMk cId="0" sldId="278"/>
            <ac:spMk id="9" creationId="{00000000-0000-0000-0000-000000000000}"/>
          </ac:spMkLst>
        </pc:spChg>
      </pc:sldChg>
      <pc:sldChg chg="addSp delSp modSp mod modTransition">
        <pc:chgData name="Maxime COQUET" userId="cbfcb67a-bcbd-4d0c-90ed-5a04cb35aa62" providerId="ADAL" clId="{93A0542B-6375-47B1-AA18-DCF196BC4F39}" dt="2026-10-13T19:11:51.285" v="115" actId="20577"/>
        <pc:sldMkLst>
          <pc:docMk/>
          <pc:sldMk cId="0" sldId="279"/>
        </pc:sldMkLst>
        <pc:spChg chg="add del mod">
          <ac:chgData name="Maxime COQUET" userId="cbfcb67a-bcbd-4d0c-90ed-5a04cb35aa62" providerId="ADAL" clId="{93A0542B-6375-47B1-AA18-DCF196BC4F39}" dt="2026-10-13T19:11:51.285" v="115" actId="20577"/>
          <ac:spMkLst>
            <pc:docMk/>
            <pc:sldMk cId="0" sldId="279"/>
            <ac:spMk id="25" creationId="{00000000-0000-0000-0000-000000000000}"/>
          </ac:spMkLst>
        </pc:spChg>
      </pc:sldChg>
      <pc:sldChg chg="modTransition">
        <pc:chgData name="Maxime COQUET" userId="cbfcb67a-bcbd-4d0c-90ed-5a04cb35aa62" providerId="ADAL" clId="{93A0542B-6375-47B1-AA18-DCF196BC4F39}" dt="2026-10-13T19:10:18.173" v="36"/>
        <pc:sldMkLst>
          <pc:docMk/>
          <pc:sldMk cId="0" sldId="280"/>
        </pc:sldMkLst>
      </pc:sldChg>
      <pc:sldChg chg="modTransition">
        <pc:chgData name="Maxime COQUET" userId="cbfcb67a-bcbd-4d0c-90ed-5a04cb35aa62" providerId="ADAL" clId="{93A0542B-6375-47B1-AA18-DCF196BC4F39}" dt="2026-10-13T19:10:19.180" v="37"/>
        <pc:sldMkLst>
          <pc:docMk/>
          <pc:sldMk cId="0" sldId="281"/>
        </pc:sldMkLst>
      </pc:sldChg>
      <pc:sldChg chg="modSp mod modTransition">
        <pc:chgData name="Maxime COQUET" userId="cbfcb67a-bcbd-4d0c-90ed-5a04cb35aa62" providerId="ADAL" clId="{93A0542B-6375-47B1-AA18-DCF196BC4F39}" dt="2026-10-14T07:59:59.169" v="164" actId="20577"/>
        <pc:sldMkLst>
          <pc:docMk/>
          <pc:sldMk cId="0" sldId="282"/>
        </pc:sldMkLst>
        <pc:spChg chg="mod">
          <ac:chgData name="Maxime COQUET" userId="cbfcb67a-bcbd-4d0c-90ed-5a04cb35aa62" providerId="ADAL" clId="{93A0542B-6375-47B1-AA18-DCF196BC4F39}" dt="2026-10-14T07:59:48.494" v="161" actId="20577"/>
          <ac:spMkLst>
            <pc:docMk/>
            <pc:sldMk cId="0" sldId="282"/>
            <ac:spMk id="2" creationId="{00000000-0000-0000-0000-000000000000}"/>
          </ac:spMkLst>
        </pc:spChg>
        <pc:spChg chg="mod">
          <ac:chgData name="Maxime COQUET" userId="cbfcb67a-bcbd-4d0c-90ed-5a04cb35aa62" providerId="ADAL" clId="{93A0542B-6375-47B1-AA18-DCF196BC4F39}" dt="2026-10-14T07:59:59.169" v="164" actId="20577"/>
          <ac:spMkLst>
            <pc:docMk/>
            <pc:sldMk cId="0" sldId="282"/>
            <ac:spMk id="23" creationId="{00000000-0000-0000-0000-000000000000}"/>
          </ac:spMkLst>
        </pc:spChg>
      </pc:sldChg>
      <pc:sldChg chg="modSp mod modTransition">
        <pc:chgData name="Maxime COQUET" userId="cbfcb67a-bcbd-4d0c-90ed-5a04cb35aa62" providerId="ADAL" clId="{93A0542B-6375-47B1-AA18-DCF196BC4F39}" dt="2026-10-14T08:00:09.249" v="165" actId="20577"/>
        <pc:sldMkLst>
          <pc:docMk/>
          <pc:sldMk cId="0" sldId="283"/>
        </pc:sldMkLst>
        <pc:spChg chg="mod">
          <ac:chgData name="Maxime COQUET" userId="cbfcb67a-bcbd-4d0c-90ed-5a04cb35aa62" providerId="ADAL" clId="{93A0542B-6375-47B1-AA18-DCF196BC4F39}" dt="2026-10-14T08:00:09.249" v="165" actId="20577"/>
          <ac:spMkLst>
            <pc:docMk/>
            <pc:sldMk cId="0" sldId="283"/>
            <ac:spMk id="22" creationId="{00000000-0000-0000-0000-000000000000}"/>
          </ac:spMkLst>
        </pc:spChg>
      </pc:sldChg>
      <pc:sldChg chg="mod modTransition modShow">
        <pc:chgData name="Maxime COQUET" userId="cbfcb67a-bcbd-4d0c-90ed-5a04cb35aa62" providerId="ADAL" clId="{93A0542B-6375-47B1-AA18-DCF196BC4F39}" dt="2026-10-13T19:10:55.640" v="41" actId="729"/>
        <pc:sldMkLst>
          <pc:docMk/>
          <pc:sldMk cId="0" sldId="284"/>
        </pc:sldMkLst>
      </pc:sldChg>
      <pc:sldChg chg="new del">
        <pc:chgData name="Maxime COQUET" userId="cbfcb67a-bcbd-4d0c-90ed-5a04cb35aa62" providerId="ADAL" clId="{93A0542B-6375-47B1-AA18-DCF196BC4F39}" dt="2026-10-14T07:55:59.759" v="124" actId="2696"/>
        <pc:sldMkLst>
          <pc:docMk/>
          <pc:sldMk cId="1490831386" sldId="285"/>
        </pc:sldMkLst>
      </pc:sldChg>
      <pc:sldChg chg="modSp add mod setBg">
        <pc:chgData name="Maxime COQUET" userId="cbfcb67a-bcbd-4d0c-90ed-5a04cb35aa62" providerId="ADAL" clId="{93A0542B-6375-47B1-AA18-DCF196BC4F39}" dt="2026-10-14T08:00:13.919" v="167" actId="20577"/>
        <pc:sldMkLst>
          <pc:docMk/>
          <pc:sldMk cId="0" sldId="286"/>
        </pc:sldMkLst>
        <pc:spChg chg="mod">
          <ac:chgData name="Maxime COQUET" userId="cbfcb67a-bcbd-4d0c-90ed-5a04cb35aa62" providerId="ADAL" clId="{93A0542B-6375-47B1-AA18-DCF196BC4F39}" dt="2026-10-14T07:56:57.336" v="131" actId="20577"/>
          <ac:spMkLst>
            <pc:docMk/>
            <pc:sldMk cId="0" sldId="286"/>
            <ac:spMk id="2" creationId="{00000000-0000-0000-0000-000000000000}"/>
          </ac:spMkLst>
        </pc:spChg>
        <pc:spChg chg="mod">
          <ac:chgData name="Maxime COQUET" userId="cbfcb67a-bcbd-4d0c-90ed-5a04cb35aa62" providerId="ADAL" clId="{93A0542B-6375-47B1-AA18-DCF196BC4F39}" dt="2026-10-14T08:00:13.919" v="167" actId="20577"/>
          <ac:spMkLst>
            <pc:docMk/>
            <pc:sldMk cId="0" sldId="286"/>
            <ac:spMk id="7" creationId="{00000000-0000-0000-0000-000000000000}"/>
          </ac:spMkLst>
        </pc:spChg>
      </pc:sldChg>
      <pc:sldChg chg="new del">
        <pc:chgData name="Maxime COQUET" userId="cbfcb67a-bcbd-4d0c-90ed-5a04cb35aa62" providerId="ADAL" clId="{93A0542B-6375-47B1-AA18-DCF196BC4F39}" dt="2026-10-14T07:56:21.970" v="127" actId="2696"/>
        <pc:sldMkLst>
          <pc:docMk/>
          <pc:sldMk cId="417702130" sldId="287"/>
        </pc:sldMkLst>
      </pc:sldChg>
      <pc:sldChg chg="modSp add mod setBg">
        <pc:chgData name="Maxime COQUET" userId="cbfcb67a-bcbd-4d0c-90ed-5a04cb35aa62" providerId="ADAL" clId="{93A0542B-6375-47B1-AA18-DCF196BC4F39}" dt="2026-10-14T08:00:17.334" v="169" actId="20577"/>
        <pc:sldMkLst>
          <pc:docMk/>
          <pc:sldMk cId="0" sldId="288"/>
        </pc:sldMkLst>
        <pc:spChg chg="mod">
          <ac:chgData name="Maxime COQUET" userId="cbfcb67a-bcbd-4d0c-90ed-5a04cb35aa62" providerId="ADAL" clId="{93A0542B-6375-47B1-AA18-DCF196BC4F39}" dt="2026-10-14T07:57:00.388" v="133" actId="20577"/>
          <ac:spMkLst>
            <pc:docMk/>
            <pc:sldMk cId="0" sldId="288"/>
            <ac:spMk id="2" creationId="{00000000-0000-0000-0000-000000000000}"/>
          </ac:spMkLst>
        </pc:spChg>
        <pc:spChg chg="mod">
          <ac:chgData name="Maxime COQUET" userId="cbfcb67a-bcbd-4d0c-90ed-5a04cb35aa62" providerId="ADAL" clId="{93A0542B-6375-47B1-AA18-DCF196BC4F39}" dt="2026-10-14T08:00:17.334" v="169" actId="20577"/>
          <ac:spMkLst>
            <pc:docMk/>
            <pc:sldMk cId="0" sldId="288"/>
            <ac:spMk id="7" creationId="{00000000-0000-0000-0000-000000000000}"/>
          </ac:spMkLst>
        </pc:spChg>
      </pc:sldChg>
      <pc:sldChg chg="delSp modSp add mod setBg">
        <pc:chgData name="Maxime COQUET" userId="cbfcb67a-bcbd-4d0c-90ed-5a04cb35aa62" providerId="ADAL" clId="{93A0542B-6375-47B1-AA18-DCF196BC4F39}" dt="2026-10-14T07:59:32.914" v="160" actId="1076"/>
        <pc:sldMkLst>
          <pc:docMk/>
          <pc:sldMk cId="0" sldId="289"/>
        </pc:sldMkLst>
        <pc:spChg chg="mod">
          <ac:chgData name="Maxime COQUET" userId="cbfcb67a-bcbd-4d0c-90ed-5a04cb35aa62" providerId="ADAL" clId="{93A0542B-6375-47B1-AA18-DCF196BC4F39}" dt="2026-10-14T07:58:18.375" v="147" actId="1076"/>
          <ac:spMkLst>
            <pc:docMk/>
            <pc:sldMk cId="0" sldId="289"/>
            <ac:spMk id="4" creationId="{00000000-0000-0000-0000-000000000000}"/>
          </ac:spMkLst>
        </pc:spChg>
        <pc:spChg chg="mod">
          <ac:chgData name="Maxime COQUET" userId="cbfcb67a-bcbd-4d0c-90ed-5a04cb35aa62" providerId="ADAL" clId="{93A0542B-6375-47B1-AA18-DCF196BC4F39}" dt="2026-10-14T07:58:39.257" v="154" actId="1076"/>
          <ac:spMkLst>
            <pc:docMk/>
            <pc:sldMk cId="0" sldId="289"/>
            <ac:spMk id="5" creationId="{00000000-0000-0000-0000-000000000000}"/>
          </ac:spMkLst>
        </pc:spChg>
        <pc:spChg chg="mod">
          <ac:chgData name="Maxime COQUET" userId="cbfcb67a-bcbd-4d0c-90ed-5a04cb35aa62" providerId="ADAL" clId="{93A0542B-6375-47B1-AA18-DCF196BC4F39}" dt="2026-10-14T07:58:59.227" v="155" actId="1076"/>
          <ac:spMkLst>
            <pc:docMk/>
            <pc:sldMk cId="0" sldId="289"/>
            <ac:spMk id="6" creationId="{00000000-0000-0000-0000-000000000000}"/>
          </ac:spMkLst>
        </pc:spChg>
        <pc:spChg chg="mod">
          <ac:chgData name="Maxime COQUET" userId="cbfcb67a-bcbd-4d0c-90ed-5a04cb35aa62" providerId="ADAL" clId="{93A0542B-6375-47B1-AA18-DCF196BC4F39}" dt="2026-10-14T07:59:15.932" v="158" actId="1076"/>
          <ac:spMkLst>
            <pc:docMk/>
            <pc:sldMk cId="0" sldId="289"/>
            <ac:spMk id="7" creationId="{00000000-0000-0000-0000-000000000000}"/>
          </ac:spMkLst>
        </pc:spChg>
        <pc:spChg chg="mod">
          <ac:chgData name="Maxime COQUET" userId="cbfcb67a-bcbd-4d0c-90ed-5a04cb35aa62" providerId="ADAL" clId="{93A0542B-6375-47B1-AA18-DCF196BC4F39}" dt="2026-10-14T07:59:08.800" v="157" actId="1076"/>
          <ac:spMkLst>
            <pc:docMk/>
            <pc:sldMk cId="0" sldId="289"/>
            <ac:spMk id="8" creationId="{00000000-0000-0000-0000-000000000000}"/>
          </ac:spMkLst>
        </pc:spChg>
        <pc:spChg chg="del">
          <ac:chgData name="Maxime COQUET" userId="cbfcb67a-bcbd-4d0c-90ed-5a04cb35aa62" providerId="ADAL" clId="{93A0542B-6375-47B1-AA18-DCF196BC4F39}" dt="2026-10-14T07:57:28.300" v="135" actId="478"/>
          <ac:spMkLst>
            <pc:docMk/>
            <pc:sldMk cId="0" sldId="289"/>
            <ac:spMk id="9" creationId="{00000000-0000-0000-0000-000000000000}"/>
          </ac:spMkLst>
        </pc:spChg>
        <pc:spChg chg="mod">
          <ac:chgData name="Maxime COQUET" userId="cbfcb67a-bcbd-4d0c-90ed-5a04cb35aa62" providerId="ADAL" clId="{93A0542B-6375-47B1-AA18-DCF196BC4F39}" dt="2026-10-14T07:59:29.919" v="159" actId="107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Maxime COQUET" userId="cbfcb67a-bcbd-4d0c-90ed-5a04cb35aa62" providerId="ADAL" clId="{93A0542B-6375-47B1-AA18-DCF196BC4F39}" dt="2026-10-14T07:59:32.914" v="160" actId="1076"/>
          <ac:spMkLst>
            <pc:docMk/>
            <pc:sldMk cId="0" sldId="289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090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Maxime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Maxime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/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Maxime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Maxime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Maxime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Maxime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Maxime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/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/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/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Maxime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 pas présenter. Ces slides servent à répondre aux questions du jury : aller directement à la bonne annexe.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À montrer si le jury demande la preuve que le schéma de la slide 6 correspond au système réel. Ce graphe a été produit avec le code de rqt_graph pendant qu'un essai A tournait, puis allégé : nous avons masqué les nœuds qui ne sont pas les nôtres (Gazebo, map_server, robot_state_publisher, gestion du cycle de vie). On retrouve exactement nos flux : random_walker lit /scan et publie /cmd_vel ; coverage_tracker lit /scan, /tf (position du robot) et /map, et publie /coverage_status et /coverage_map. Les topics /scan, /tf et /map sont publiés par Gazebo, robot_state_publisher et map_server, masqués ici ; /cmd_vel est lu par les roues simulées.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À montrer pour la slide 7. Graphe produit avec le code de rqt_graph pendant un essai B en simulation, puis allégé : nœuds de Nav2, AMCL, Gazebo et map_server masqués. coverage_planner lit /map et publie /coverage_path. coverage_executor lit /coverage_path, mais aussi /amcl_pose et /odom (pour vérifier que le robot bouge), publie /initialpose (la position de départ donnée à AMCL) et appelle l'action follow_waypoints de Nav2. Remarque honnête : l'outil BasicNavigator de Nav2 ouvre aussi des clients vers d'autres actions (navigate_to_pose, spin, backup...) qu'il n'utilise pas ; nous les avons masquées pour la lisibilité. coverage_tracker : même nœud et mêmes topics que pour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50721"/>
            <a:ext cx="10566400" cy="4094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50721"/>
            <a:ext cx="10566400" cy="4094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624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PROJET ROS 2 · IMT MINES ALÈS</a:t>
            </a:r>
            <a:endParaRPr lang="en-US" sz="1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565400"/>
            <a:ext cx="1088339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Robot aspirateur autonome</a:t>
            </a:r>
            <a:endParaRPr lang="en-US" sz="5600"/>
          </a:p>
        </p:txBody>
      </p:sp>
      <p:sp>
        <p:nvSpPr>
          <p:cNvPr id="4" name="Text 2"/>
          <p:cNvSpPr/>
          <p:nvPr/>
        </p:nvSpPr>
        <p:spPr>
          <a:xfrm>
            <a:off x="812800" y="3566160"/>
            <a:ext cx="981075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Planifier sur une carte aide-t-il vraiment à mieux aspirer ?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2800" y="4216400"/>
            <a:ext cx="1343343" cy="375920"/>
          </a:xfrm>
          <a:prstGeom prst="roundRect">
            <a:avLst>
              <a:gd name="adj" fmla="val 50000"/>
            </a:avLst>
          </a:prstGeom>
          <a:solidFill>
            <a:srgbClr val="B04A0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· au hasard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308543" y="4279900"/>
            <a:ext cx="61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contre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2974261" y="4216400"/>
            <a:ext cx="1153160" cy="375920"/>
          </a:xfrm>
          <a:prstGeom prst="roundRect">
            <a:avLst>
              <a:gd name="adj" fmla="val 50000"/>
            </a:avLst>
          </a:prstGeom>
          <a:solidFill>
            <a:srgbClr val="1F5F99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· planifié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Maxime COQUET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SOMMAIRE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76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Notre fil : du problème à la réponse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950720"/>
            <a:ext cx="3437414" cy="1882140"/>
          </a:xfrm>
          <a:prstGeom prst="roundRect">
            <a:avLst>
              <a:gd name="adj" fmla="val 5398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90600" y="2103120"/>
            <a:ext cx="317426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990600" y="2545080"/>
            <a:ext cx="317426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problème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990600" y="2839720"/>
            <a:ext cx="317426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Couvrir une pièce. Ce qui existe.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377214" y="1950720"/>
            <a:ext cx="3437493" cy="1882140"/>
          </a:xfrm>
          <a:prstGeom prst="roundRect">
            <a:avLst>
              <a:gd name="adj" fmla="val 5398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55014" y="2103120"/>
            <a:ext cx="31743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555014" y="2545080"/>
            <a:ext cx="317435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Notre solution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555014" y="2839720"/>
            <a:ext cx="317435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Deux stratégies, un même juge.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7941707" y="1950720"/>
            <a:ext cx="3437493" cy="1882140"/>
          </a:xfrm>
          <a:prstGeom prst="roundRect">
            <a:avLst>
              <a:gd name="adj" fmla="val 5398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119507" y="2103120"/>
            <a:ext cx="31743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8119507" y="2545080"/>
            <a:ext cx="317435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Simulation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8119507" y="2839720"/>
            <a:ext cx="317435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A, puis B, puis conclusion.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812800" y="3959860"/>
            <a:ext cx="3437414" cy="1882140"/>
          </a:xfrm>
          <a:prstGeom prst="roundRect">
            <a:avLst>
              <a:gd name="adj" fmla="val 5398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90600" y="4112260"/>
            <a:ext cx="317426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990600" y="4554220"/>
            <a:ext cx="317426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Robot réel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990600" y="4848860"/>
            <a:ext cx="3174268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A, puis B, puis conclusion.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4377214" y="3959860"/>
            <a:ext cx="3437493" cy="1882140"/>
          </a:xfrm>
          <a:prstGeom prst="roundRect">
            <a:avLst>
              <a:gd name="adj" fmla="val 5398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55014" y="4112260"/>
            <a:ext cx="31743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4555014" y="4554220"/>
            <a:ext cx="317435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Jumeau numérique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4555014" y="4848860"/>
            <a:ext cx="317435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Pourquoi, A, puis B.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7941707" y="3959860"/>
            <a:ext cx="3437493" cy="1882140"/>
          </a:xfrm>
          <a:prstGeom prst="roundRect">
            <a:avLst>
              <a:gd name="adj" fmla="val 5398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119507" y="4112260"/>
            <a:ext cx="317435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6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8119507" y="4554220"/>
            <a:ext cx="317435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8119507" y="4848860"/>
            <a:ext cx="317435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Limites, réponse, suite.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22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 · LE PROBLÈME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Passer partout, sans rien oublier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812800" y="2962911"/>
            <a:ext cx="5807964" cy="93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robot aspirateur doit couvrir toute la surface libre d'une pièce : c'est le problème de </a:t>
            </a:r>
            <a:r>
              <a:rPr lang="en-US" sz="17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couverture complète</a:t>
            </a:r>
            <a:r>
              <a:rPr lang="en-US" sz="17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CCPP, </a:t>
            </a:r>
            <a:r>
              <a:rPr lang="en-US" sz="1700" i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Coverage Path Planning</a:t>
            </a:r>
            <a:r>
              <a:rPr lang="en-US" sz="17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700"/>
          </a:p>
        </p:txBody>
      </p:sp>
      <p:sp>
        <p:nvSpPr>
          <p:cNvPr id="5" name="Text 3"/>
          <p:cNvSpPr/>
          <p:nvPr/>
        </p:nvSpPr>
        <p:spPr>
          <a:xfrm>
            <a:off x="812800" y="4072891"/>
            <a:ext cx="5807964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Notre hypothèse</a:t>
            </a:r>
            <a:r>
              <a:rPr lang="en-US" sz="17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un robot qui planifie sur une carte couvre plus vite qu'un robot qui roule au hasard.</a:t>
            </a:r>
            <a:endParaRPr lang="en-US" sz="1700"/>
          </a:p>
        </p:txBody>
      </p:sp>
      <p:sp>
        <p:nvSpPr>
          <p:cNvPr id="9" name="Text 6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22</a:t>
            </a:r>
            <a:endParaRPr lang="en-US" sz="1200"/>
          </a:p>
        </p:txBody>
      </p:sp>
      <p:pic>
        <p:nvPicPr>
          <p:cNvPr id="11" name="Photo TurtleBot3" descr="Le TurtleBot3 réel">
            <a:extLst>
              <a:ext uri="{FF2B5EF4-FFF2-40B4-BE49-F238E27FC236}">
                <a16:creationId xmlns:a16="http://schemas.microsoft.com/office/drawing/2014/main" id="{66F80865-4B10-9965-426E-0767C95F059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583964" y="1807845"/>
            <a:ext cx="3018472" cy="4024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 · LE PROBLÈME · CE QUI EXISTE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Cinq idées connues, deux testées</a:t>
            </a:r>
            <a:endParaRPr lang="en-US" sz="320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08480"/>
          <a:ext cx="10556240" cy="3065780"/>
        </p:xfrm>
        <a:graphic>
          <a:graphicData uri="http://schemas.openxmlformats.org/drawingml/2006/table">
            <a:tbl>
              <a:tblPr/>
              <a:tblGrid>
                <a:gridCol w="2322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Approche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Idée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Notre choix, et pourquoi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Aléatoire (Roomba)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Avancer, tourner au hasard devant un obstacle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Retenue (A) : simple, sans carte, la référence à battre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Spirale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Tourner en cercles de plus en plus grands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 : chaque obstacle casse la spirale, la pièce a 9 piliers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Boustrophédon (Choset)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Allers-retours en lignes parallèles, comme un laboureur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Retenue (B) : méthode classique avec carte, faisable en 3 jours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Arbre couvrant (Gabriely, Rimon)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Découper en grandes cases, en faire le tour en suivant un arbre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 : beaucoup de virages, plus long à coder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01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opennav_coverage (Nav2)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Module de couverture tout fait pour Nav2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722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Non : prévu pour des champs agricoles, version ROS 2 Humble incertaine</a:t>
                      </a:r>
                      <a:endParaRPr lang="en-US" sz="130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8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22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 · NOTRE SOLUTION · ALGORIGRAMMES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Deux stratégies simples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812800" y="1798321"/>
            <a:ext cx="52062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B04A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· au hasard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822325" y="2171064"/>
            <a:ext cx="5035550" cy="506730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9050">
            <a:solidFill>
              <a:srgbClr val="B04A06"/>
            </a:solidFill>
            <a:prstDash val="solid"/>
          </a:ln>
        </p:spPr>
        <p:txBody>
          <a:bodyPr wrap="square" lIns="67797" tIns="100487" rIns="67797" bIns="75087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Avancer</a:t>
            </a:r>
            <a:endParaRPr lang="en-US" sz="1500"/>
          </a:p>
        </p:txBody>
      </p:sp>
      <p:pic>
        <p:nvPicPr>
          <p:cNvPr id="6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51200" y="2776221"/>
            <a:ext cx="177800" cy="254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800" y="3119121"/>
            <a:ext cx="5054600" cy="495300"/>
          </a:xfrm>
          <a:prstGeom prst="roundRect">
            <a:avLst>
              <a:gd name="adj" fmla="val 15385"/>
            </a:avLst>
          </a:prstGeom>
          <a:solidFill>
            <a:srgbClr val="ECE8DE"/>
          </a:solidFill>
          <a:ln/>
        </p:spPr>
        <p:txBody>
          <a:bodyPr wrap="square" lIns="58835" tIns="91982" rIns="58835" bIns="66582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Obstacle devant ?</a:t>
            </a:r>
            <a:endParaRPr lang="en-US" sz="1500"/>
          </a:p>
        </p:txBody>
      </p:sp>
      <p:pic>
        <p:nvPicPr>
          <p:cNvPr id="8" name="Image 1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51200" y="3703321"/>
            <a:ext cx="177800" cy="25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325" y="4055746"/>
            <a:ext cx="5035550" cy="506730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9050">
            <a:solidFill>
              <a:srgbClr val="B04A06"/>
            </a:solidFill>
            <a:prstDash val="solid"/>
          </a:ln>
        </p:spPr>
        <p:txBody>
          <a:bodyPr wrap="square" lIns="67797" tIns="100487" rIns="67797" bIns="75087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Tourner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d'un angle au hasard</a:t>
            </a:r>
            <a:endParaRPr lang="en-US" sz="1500"/>
          </a:p>
        </p:txBody>
      </p:sp>
      <p:pic>
        <p:nvPicPr>
          <p:cNvPr id="10" name="Image 2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51200" y="4660900"/>
            <a:ext cx="177800" cy="254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2800" y="5003800"/>
            <a:ext cx="5054600" cy="495300"/>
          </a:xfrm>
          <a:prstGeom prst="roundRect">
            <a:avLst>
              <a:gd name="adj" fmla="val 15385"/>
            </a:avLst>
          </a:prstGeom>
          <a:solidFill>
            <a:srgbClr val="ECE8DE"/>
          </a:solidFill>
          <a:ln/>
        </p:spPr>
        <p:txBody>
          <a:bodyPr wrap="square" lIns="58835" tIns="91982" rIns="58835" bIns="66582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Voie libre → avancer</a:t>
            </a:r>
            <a:endParaRPr lang="en-US" sz="1500"/>
          </a:p>
        </p:txBody>
      </p:sp>
      <p:sp>
        <p:nvSpPr>
          <p:cNvPr id="12" name="Text 7"/>
          <p:cNvSpPr/>
          <p:nvPr/>
        </p:nvSpPr>
        <p:spPr>
          <a:xfrm>
            <a:off x="6324600" y="1798321"/>
            <a:ext cx="520623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1F5F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· planifié</a:t>
            </a:r>
            <a:endParaRPr lang="en-US" sz="1800"/>
          </a:p>
        </p:txBody>
      </p:sp>
      <p:sp>
        <p:nvSpPr>
          <p:cNvPr id="13" name="Text 8"/>
          <p:cNvSpPr/>
          <p:nvPr/>
        </p:nvSpPr>
        <p:spPr>
          <a:xfrm>
            <a:off x="6334125" y="2171064"/>
            <a:ext cx="5035550" cy="506730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138587" tIns="100487" rIns="0" bIns="7508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Lire la carte : libre ou obstacle</a:t>
            </a:r>
            <a:endParaRPr lang="en-US" sz="1500"/>
          </a:p>
        </p:txBody>
      </p:sp>
      <p:sp>
        <p:nvSpPr>
          <p:cNvPr id="14" name="Text 9"/>
          <p:cNvSpPr/>
          <p:nvPr/>
        </p:nvSpPr>
        <p:spPr>
          <a:xfrm>
            <a:off x="6334125" y="2785746"/>
            <a:ext cx="5035550" cy="506730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138587" tIns="100487" rIns="0" bIns="7508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Garder une marge de 20 cm aux murs</a:t>
            </a:r>
            <a:endParaRPr lang="en-US" sz="1500"/>
          </a:p>
        </p:txBody>
      </p:sp>
      <p:sp>
        <p:nvSpPr>
          <p:cNvPr id="15" name="Text 10"/>
          <p:cNvSpPr/>
          <p:nvPr/>
        </p:nvSpPr>
        <p:spPr>
          <a:xfrm>
            <a:off x="6334125" y="3400425"/>
            <a:ext cx="5035550" cy="506730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138587" tIns="100487" rIns="0" bIns="7508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Garder la zone reliée au départ</a:t>
            </a:r>
            <a:endParaRPr lang="en-US" sz="1500"/>
          </a:p>
        </p:txBody>
      </p:sp>
      <p:sp>
        <p:nvSpPr>
          <p:cNvPr id="16" name="Text 11"/>
          <p:cNvSpPr/>
          <p:nvPr/>
        </p:nvSpPr>
        <p:spPr>
          <a:xfrm>
            <a:off x="6334125" y="4015107"/>
            <a:ext cx="5035550" cy="506730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138587" tIns="100487" rIns="0" bIns="7508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Tracer des lignes tous les 18 cm</a:t>
            </a:r>
            <a:endParaRPr lang="en-US" sz="1500"/>
          </a:p>
        </p:txBody>
      </p:sp>
      <p:sp>
        <p:nvSpPr>
          <p:cNvPr id="17" name="Text 12"/>
          <p:cNvSpPr/>
          <p:nvPr/>
        </p:nvSpPr>
        <p:spPr>
          <a:xfrm>
            <a:off x="6334125" y="4629786"/>
            <a:ext cx="5035550" cy="506730"/>
          </a:xfrm>
          <a:prstGeom prst="roundRect">
            <a:avLst>
              <a:gd name="adj" fmla="val 13158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138587" tIns="100487" rIns="0" bIns="75087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Points de passage aux bouts</a:t>
            </a:r>
            <a:endParaRPr lang="en-US" sz="1500"/>
          </a:p>
        </p:txBody>
      </p:sp>
      <p:sp>
        <p:nvSpPr>
          <p:cNvPr id="18" name="Text 1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22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 · NOTRE SOLUTION · SCHÉMA A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: le robot réagit à son LiDAR, sans carte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69925" y="1800225"/>
            <a:ext cx="10852150" cy="3575050"/>
          </a:xfrm>
          <a:prstGeom prst="roundRect">
            <a:avLst>
              <a:gd name="adj" fmla="val 3286"/>
            </a:avLst>
          </a:prstGeom>
          <a:noFill/>
          <a:ln w="19050">
            <a:solidFill>
              <a:srgbClr val="6A71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839200" y="1676400"/>
            <a:ext cx="2540000" cy="213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aspi_random.launch.py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812800" y="1905000"/>
            <a:ext cx="2032000" cy="1651000"/>
          </a:xfrm>
          <a:prstGeom prst="roundRect">
            <a:avLst>
              <a:gd name="adj" fmla="val 6154"/>
            </a:avLst>
          </a:prstGeom>
          <a:solidFill>
            <a:srgbClr val="17223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151104" y="2438400"/>
            <a:ext cx="135531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TurtleBot3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253688" y="2809239"/>
            <a:ext cx="11501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LiDAR + roues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429000" y="2095500"/>
            <a:ext cx="1524000" cy="406400"/>
          </a:xfrm>
          <a:custGeom>
            <a:avLst/>
            <a:gdLst/>
            <a:ahLst/>
            <a:cxnLst/>
            <a:rect l="l" t="t" r="r" b="b"/>
            <a:pathLst>
              <a:path w="1524000" h="406400">
                <a:moveTo>
                  <a:pt x="203200" y="0"/>
                </a:moveTo>
                <a:lnTo>
                  <a:pt x="1320800" y="0"/>
                </a:lnTo>
                <a:arcTo wR="203200" hR="203200" stAng="16200000" swAng="5400000"/>
                <a:lnTo>
                  <a:pt x="1524000" y="203200"/>
                </a:lnTo>
                <a:arcTo wR="203200" hR="203200" stAng="0" swAng="5400000"/>
                <a:lnTo>
                  <a:pt x="203200" y="406400"/>
                </a:lnTo>
                <a:arcTo wR="203200" hR="203200" stAng="5400000" swAng="5400000"/>
                <a:lnTo>
                  <a:pt x="0" y="203200"/>
                </a:lnTo>
                <a:arcTo wR="203200" hR="203200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6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/scan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3429000" y="2959100"/>
            <a:ext cx="1524000" cy="406400"/>
          </a:xfrm>
          <a:custGeom>
            <a:avLst/>
            <a:gdLst/>
            <a:ahLst/>
            <a:cxnLst/>
            <a:rect l="l" t="t" r="r" b="b"/>
            <a:pathLst>
              <a:path w="1524000" h="406400">
                <a:moveTo>
                  <a:pt x="203200" y="0"/>
                </a:moveTo>
                <a:lnTo>
                  <a:pt x="1320800" y="0"/>
                </a:lnTo>
                <a:arcTo wR="203200" hR="203200" stAng="16200000" swAng="5400000"/>
                <a:lnTo>
                  <a:pt x="1524000" y="203200"/>
                </a:lnTo>
                <a:arcTo wR="203200" hR="203200" stAng="0" swAng="5400000"/>
                <a:lnTo>
                  <a:pt x="203200" y="406400"/>
                </a:lnTo>
                <a:arcTo wR="203200" hR="203200" stAng="5400000" swAng="5400000"/>
                <a:lnTo>
                  <a:pt x="0" y="203200"/>
                </a:lnTo>
                <a:arcTo wR="203200" hR="203200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6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/cmd_vel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5597525" y="2422525"/>
            <a:ext cx="2393950" cy="615950"/>
          </a:xfrm>
          <a:prstGeom prst="roundRect">
            <a:avLst>
              <a:gd name="adj" fmla="val 10825"/>
            </a:avLst>
          </a:prstGeom>
          <a:solidFill>
            <a:srgbClr val="FFFDF8"/>
          </a:solidFill>
          <a:ln w="19050">
            <a:solidFill>
              <a:srgbClr val="B04A06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random_walker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8509000" y="2095500"/>
            <a:ext cx="2870200" cy="1270000"/>
          </a:xfrm>
          <a:prstGeom prst="roundRect">
            <a:avLst>
              <a:gd name="adj" fmla="val 6000"/>
            </a:avLst>
          </a:prstGeom>
          <a:solidFill>
            <a:srgbClr val="ECE8DE"/>
          </a:solidFill>
          <a:ln/>
        </p:spPr>
        <p:txBody>
          <a:bodyPr wrap="square" lIns="155482" tIns="0" rIns="80044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Lit les distances. Obstacle devant → tourne au hasard. Sinon → avance.</a:t>
            </a:r>
            <a:endParaRPr lang="en-US" sz="1300"/>
          </a:p>
        </p:txBody>
      </p:sp>
      <p:pic>
        <p:nvPicPr>
          <p:cNvPr id="13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94000" y="2247900"/>
            <a:ext cx="685800" cy="101600"/>
          </a:xfrm>
          <a:prstGeom prst="rect">
            <a:avLst/>
          </a:prstGeom>
        </p:spPr>
      </p:pic>
      <p:pic>
        <p:nvPicPr>
          <p:cNvPr id="14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02200" y="2247900"/>
            <a:ext cx="736600" cy="374650"/>
          </a:xfrm>
          <a:prstGeom prst="rect">
            <a:avLst/>
          </a:prstGeom>
        </p:spPr>
      </p:pic>
      <p:pic>
        <p:nvPicPr>
          <p:cNvPr id="15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02200" y="2838450"/>
            <a:ext cx="736600" cy="374650"/>
          </a:xfrm>
          <a:prstGeom prst="rect">
            <a:avLst/>
          </a:prstGeom>
        </p:spPr>
      </p:pic>
      <p:pic>
        <p:nvPicPr>
          <p:cNvPr id="16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794000" y="3111500"/>
            <a:ext cx="685800" cy="101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2800" y="4127500"/>
            <a:ext cx="2032000" cy="571500"/>
          </a:xfrm>
          <a:prstGeom prst="roundRect">
            <a:avLst>
              <a:gd name="adj" fmla="val 13333"/>
            </a:avLst>
          </a:prstGeom>
          <a:solidFill>
            <a:srgbClr val="ECE8D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map_server</a:t>
            </a:r>
            <a:endParaRPr lang="en-US" sz="1400"/>
          </a:p>
        </p:txBody>
      </p:sp>
      <p:sp>
        <p:nvSpPr>
          <p:cNvPr id="18" name="Text 12"/>
          <p:cNvSpPr/>
          <p:nvPr/>
        </p:nvSpPr>
        <p:spPr>
          <a:xfrm>
            <a:off x="3429000" y="4210050"/>
            <a:ext cx="1524000" cy="406400"/>
          </a:xfrm>
          <a:custGeom>
            <a:avLst/>
            <a:gdLst/>
            <a:ahLst/>
            <a:cxnLst/>
            <a:rect l="l" t="t" r="r" b="b"/>
            <a:pathLst>
              <a:path w="1524000" h="406400">
                <a:moveTo>
                  <a:pt x="203200" y="0"/>
                </a:moveTo>
                <a:lnTo>
                  <a:pt x="1320800" y="0"/>
                </a:lnTo>
                <a:arcTo wR="203200" hR="203200" stAng="16200000" swAng="5400000"/>
                <a:lnTo>
                  <a:pt x="1524000" y="203200"/>
                </a:lnTo>
                <a:arcTo wR="203200" hR="203200" stAng="0" swAng="5400000"/>
                <a:lnTo>
                  <a:pt x="203200" y="406400"/>
                </a:lnTo>
                <a:arcTo wR="203200" hR="203200" stAng="5400000" swAng="5400000"/>
                <a:lnTo>
                  <a:pt x="0" y="203200"/>
                </a:lnTo>
                <a:arcTo wR="203200" hR="203200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6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/map</a:t>
            </a:r>
            <a:endParaRPr lang="en-US" sz="1400"/>
          </a:p>
        </p:txBody>
      </p:sp>
      <p:sp>
        <p:nvSpPr>
          <p:cNvPr id="19" name="Text 13"/>
          <p:cNvSpPr/>
          <p:nvPr/>
        </p:nvSpPr>
        <p:spPr>
          <a:xfrm>
            <a:off x="5597525" y="4105275"/>
            <a:ext cx="2393950" cy="615950"/>
          </a:xfrm>
          <a:prstGeom prst="roundRect">
            <a:avLst>
              <a:gd name="adj" fmla="val 10825"/>
            </a:avLst>
          </a:prstGeom>
          <a:solidFill>
            <a:srgbClr val="FFFDF8"/>
          </a:solidFill>
          <a:ln w="19050">
            <a:solidFill>
              <a:srgbClr val="172236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coverage_tracker</a:t>
            </a:r>
            <a:endParaRPr lang="en-US" sz="1500"/>
          </a:p>
        </p:txBody>
      </p:sp>
      <p:sp>
        <p:nvSpPr>
          <p:cNvPr id="20" name="Text 14"/>
          <p:cNvSpPr/>
          <p:nvPr/>
        </p:nvSpPr>
        <p:spPr>
          <a:xfrm>
            <a:off x="8509000" y="4210050"/>
            <a:ext cx="2095500" cy="406400"/>
          </a:xfrm>
          <a:custGeom>
            <a:avLst/>
            <a:gdLst/>
            <a:ahLst/>
            <a:cxnLst/>
            <a:rect l="l" t="t" r="r" b="b"/>
            <a:pathLst>
              <a:path w="2095500" h="406400">
                <a:moveTo>
                  <a:pt x="203200" y="0"/>
                </a:moveTo>
                <a:lnTo>
                  <a:pt x="1892300" y="0"/>
                </a:lnTo>
                <a:arcTo wR="203200" hR="203200" stAng="16200000" swAng="5400000"/>
                <a:lnTo>
                  <a:pt x="2095500" y="203200"/>
                </a:lnTo>
                <a:arcTo wR="203200" hR="203200" stAng="0" swAng="5400000"/>
                <a:lnTo>
                  <a:pt x="203200" y="406400"/>
                </a:lnTo>
                <a:arcTo wR="203200" hR="203200" stAng="5400000" swAng="5400000"/>
                <a:lnTo>
                  <a:pt x="0" y="203200"/>
                </a:lnTo>
                <a:arcTo wR="203200" hR="203200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6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/coverage_status</a:t>
            </a:r>
            <a:endParaRPr lang="en-US" sz="1400"/>
          </a:p>
        </p:txBody>
      </p:sp>
      <p:pic>
        <p:nvPicPr>
          <p:cNvPr id="21" name="Image 4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94000" y="4362450"/>
            <a:ext cx="685800" cy="101600"/>
          </a:xfrm>
          <a:prstGeom prst="rect">
            <a:avLst/>
          </a:prstGeom>
        </p:spPr>
      </p:pic>
      <p:pic>
        <p:nvPicPr>
          <p:cNvPr id="22" name="Image 5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902200" y="4362450"/>
            <a:ext cx="736600" cy="101600"/>
          </a:xfrm>
          <a:prstGeom prst="rect">
            <a:avLst/>
          </a:prstGeom>
        </p:spPr>
      </p:pic>
      <p:pic>
        <p:nvPicPr>
          <p:cNvPr id="23" name="Image 6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950200" y="4362450"/>
            <a:ext cx="609600" cy="101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12800" y="546100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Rectangle = nœud · pilule = topic · flèche = sens des messages · cadre pointillé = tout ce que lance </a:t>
            </a:r>
            <a:r>
              <a:rPr lang="en-US" sz="1200" b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aspi_random.launch.py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(avec RViz et une TF map→odom fixe)</a:t>
            </a:r>
            <a:endParaRPr lang="en-US" sz="1200"/>
          </a:p>
        </p:txBody>
      </p:sp>
      <p:sp>
        <p:nvSpPr>
          <p:cNvPr id="26" name="Text 1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22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 · NOTRE SOLUTION · SCHÉMA B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: on planifie sur la carte, Nav2 conduit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69925" y="1800225"/>
            <a:ext cx="10852150" cy="3575050"/>
          </a:xfrm>
          <a:prstGeom prst="roundRect">
            <a:avLst>
              <a:gd name="adj" fmla="val 3286"/>
            </a:avLst>
          </a:prstGeom>
          <a:noFill/>
          <a:ln w="19050">
            <a:solidFill>
              <a:srgbClr val="6A71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839200" y="1676400"/>
            <a:ext cx="2540000" cy="213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aspi_planned.launch.py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12800" y="1905000"/>
            <a:ext cx="1905000" cy="571500"/>
          </a:xfrm>
          <a:prstGeom prst="roundRect">
            <a:avLst>
              <a:gd name="adj" fmla="val 13333"/>
            </a:avLst>
          </a:prstGeom>
          <a:solidFill>
            <a:srgbClr val="ECE8D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map_server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302000" y="1987550"/>
            <a:ext cx="1270000" cy="406400"/>
          </a:xfrm>
          <a:custGeom>
            <a:avLst/>
            <a:gdLst/>
            <a:ahLst/>
            <a:cxnLst/>
            <a:rect l="l" t="t" r="r" b="b"/>
            <a:pathLst>
              <a:path w="1270000" h="406400">
                <a:moveTo>
                  <a:pt x="203200" y="0"/>
                </a:moveTo>
                <a:lnTo>
                  <a:pt x="1066800" y="0"/>
                </a:lnTo>
                <a:arcTo wR="203200" hR="203200" stAng="16200000" swAng="5400000"/>
                <a:lnTo>
                  <a:pt x="1270000" y="203200"/>
                </a:lnTo>
                <a:arcTo wR="203200" hR="203200" stAng="0" swAng="5400000"/>
                <a:lnTo>
                  <a:pt x="203200" y="406400"/>
                </a:lnTo>
                <a:arcTo wR="203200" hR="203200" stAng="5400000" swAng="5400000"/>
                <a:lnTo>
                  <a:pt x="0" y="203200"/>
                </a:lnTo>
                <a:arcTo wR="203200" hR="203200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6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/map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5216525" y="1882775"/>
            <a:ext cx="2393950" cy="615950"/>
          </a:xfrm>
          <a:prstGeom prst="roundRect">
            <a:avLst>
              <a:gd name="adj" fmla="val 10825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coverage_planner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8255000" y="1987550"/>
            <a:ext cx="2032000" cy="406400"/>
          </a:xfrm>
          <a:custGeom>
            <a:avLst/>
            <a:gdLst/>
            <a:ahLst/>
            <a:cxnLst/>
            <a:rect l="l" t="t" r="r" b="b"/>
            <a:pathLst>
              <a:path w="2032000" h="406400">
                <a:moveTo>
                  <a:pt x="203200" y="0"/>
                </a:moveTo>
                <a:lnTo>
                  <a:pt x="1828800" y="0"/>
                </a:lnTo>
                <a:arcTo wR="203200" hR="203200" stAng="16200000" swAng="5400000"/>
                <a:lnTo>
                  <a:pt x="2032000" y="203200"/>
                </a:lnTo>
                <a:arcTo wR="203200" hR="203200" stAng="0" swAng="5400000"/>
                <a:lnTo>
                  <a:pt x="203200" y="406400"/>
                </a:lnTo>
                <a:arcTo wR="203200" hR="203200" stAng="5400000" swAng="5400000"/>
                <a:lnTo>
                  <a:pt x="0" y="203200"/>
                </a:lnTo>
                <a:arcTo wR="203200" hR="203200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6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/coverage_path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8010525" y="2994025"/>
            <a:ext cx="2520950" cy="615950"/>
          </a:xfrm>
          <a:prstGeom prst="roundRect">
            <a:avLst>
              <a:gd name="adj" fmla="val 10825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coverage_executor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5207000" y="2984500"/>
            <a:ext cx="1905000" cy="1333500"/>
          </a:xfrm>
          <a:prstGeom prst="roundRect">
            <a:avLst>
              <a:gd name="adj" fmla="val 5714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849557" y="3374389"/>
            <a:ext cx="619887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Nav2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5847556" y="3714750"/>
            <a:ext cx="6238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 AMCL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302000" y="3111500"/>
            <a:ext cx="1270000" cy="406400"/>
          </a:xfrm>
          <a:custGeom>
            <a:avLst/>
            <a:gdLst/>
            <a:ahLst/>
            <a:cxnLst/>
            <a:rect l="l" t="t" r="r" b="b"/>
            <a:pathLst>
              <a:path w="1270000" h="406400">
                <a:moveTo>
                  <a:pt x="203200" y="0"/>
                </a:moveTo>
                <a:lnTo>
                  <a:pt x="1066800" y="0"/>
                </a:lnTo>
                <a:arcTo wR="203200" hR="203200" stAng="16200000" swAng="5400000"/>
                <a:lnTo>
                  <a:pt x="1270000" y="203200"/>
                </a:lnTo>
                <a:arcTo wR="203200" hR="203200" stAng="0" swAng="5400000"/>
                <a:lnTo>
                  <a:pt x="203200" y="406400"/>
                </a:lnTo>
                <a:arcTo wR="203200" hR="203200" stAng="5400000" swAng="5400000"/>
                <a:lnTo>
                  <a:pt x="0" y="203200"/>
                </a:lnTo>
                <a:arcTo wR="203200" hR="203200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6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/cmd_vel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302000" y="3810000"/>
            <a:ext cx="1270000" cy="406400"/>
          </a:xfrm>
          <a:custGeom>
            <a:avLst/>
            <a:gdLst/>
            <a:ahLst/>
            <a:cxnLst/>
            <a:rect l="l" t="t" r="r" b="b"/>
            <a:pathLst>
              <a:path w="1270000" h="406400">
                <a:moveTo>
                  <a:pt x="203200" y="0"/>
                </a:moveTo>
                <a:lnTo>
                  <a:pt x="1066800" y="0"/>
                </a:lnTo>
                <a:arcTo wR="203200" hR="203200" stAng="16200000" swAng="5400000"/>
                <a:lnTo>
                  <a:pt x="1270000" y="203200"/>
                </a:lnTo>
                <a:arcTo wR="203200" hR="203200" stAng="0" swAng="5400000"/>
                <a:lnTo>
                  <a:pt x="203200" y="406400"/>
                </a:lnTo>
                <a:arcTo wR="203200" hR="203200" stAng="5400000" swAng="5400000"/>
                <a:lnTo>
                  <a:pt x="0" y="203200"/>
                </a:lnTo>
                <a:arcTo wR="203200" hR="203200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6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/scan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812800" y="2921000"/>
            <a:ext cx="1905000" cy="1460500"/>
          </a:xfrm>
          <a:prstGeom prst="roundRect">
            <a:avLst>
              <a:gd name="adj" fmla="val 6957"/>
            </a:avLst>
          </a:prstGeom>
          <a:solidFill>
            <a:srgbClr val="17223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087604" y="3359150"/>
            <a:ext cx="135531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TurtleBot3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1190188" y="3729989"/>
            <a:ext cx="11501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C9D3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LiDAR + roues</a:t>
            </a:r>
            <a:endParaRPr lang="en-US" sz="1200"/>
          </a:p>
        </p:txBody>
      </p:sp>
      <p:pic>
        <p:nvPicPr>
          <p:cNvPr id="19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7000" y="2139950"/>
            <a:ext cx="685800" cy="101600"/>
          </a:xfrm>
          <a:prstGeom prst="rect">
            <a:avLst/>
          </a:prstGeom>
        </p:spPr>
      </p:pic>
      <p:pic>
        <p:nvPicPr>
          <p:cNvPr id="20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1200" y="2139950"/>
            <a:ext cx="736600" cy="101600"/>
          </a:xfrm>
          <a:prstGeom prst="rect">
            <a:avLst/>
          </a:prstGeom>
        </p:spPr>
      </p:pic>
      <p:pic>
        <p:nvPicPr>
          <p:cNvPr id="21" name="Image 2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69200" y="2139950"/>
            <a:ext cx="736600" cy="101600"/>
          </a:xfrm>
          <a:prstGeom prst="rect">
            <a:avLst/>
          </a:prstGeom>
        </p:spPr>
      </p:pic>
      <p:pic>
        <p:nvPicPr>
          <p:cNvPr id="22" name="Image 3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220200" y="2343150"/>
            <a:ext cx="101600" cy="692150"/>
          </a:xfrm>
          <a:prstGeom prst="rect">
            <a:avLst/>
          </a:prstGeom>
        </p:spPr>
      </p:pic>
      <p:pic>
        <p:nvPicPr>
          <p:cNvPr id="23" name="Image 4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61200" y="3251200"/>
            <a:ext cx="990600" cy="101600"/>
          </a:xfrm>
          <a:prstGeom prst="rect">
            <a:avLst/>
          </a:prstGeom>
        </p:spPr>
      </p:pic>
      <p:pic>
        <p:nvPicPr>
          <p:cNvPr id="24" name="Image 5" descr="connecto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21200" y="3263900"/>
            <a:ext cx="736600" cy="101600"/>
          </a:xfrm>
          <a:prstGeom prst="rect">
            <a:avLst/>
          </a:prstGeom>
        </p:spPr>
      </p:pic>
      <p:pic>
        <p:nvPicPr>
          <p:cNvPr id="25" name="Image 6" descr="connector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2667000" y="3263900"/>
            <a:ext cx="685800" cy="101600"/>
          </a:xfrm>
          <a:prstGeom prst="rect">
            <a:avLst/>
          </a:prstGeom>
        </p:spPr>
      </p:pic>
      <p:pic>
        <p:nvPicPr>
          <p:cNvPr id="26" name="Image 7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7000" y="3962400"/>
            <a:ext cx="685800" cy="101600"/>
          </a:xfrm>
          <a:prstGeom prst="rect">
            <a:avLst/>
          </a:prstGeom>
        </p:spPr>
      </p:pic>
      <p:pic>
        <p:nvPicPr>
          <p:cNvPr id="27" name="Image 8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1200" y="3962400"/>
            <a:ext cx="736600" cy="101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239000" y="3708400"/>
            <a:ext cx="340106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>
                <a:solidFill>
                  <a:srgbClr val="1F5F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 Nav2 : « suis ces points de passage »</a:t>
            </a:r>
            <a:endParaRPr lang="en-US" sz="1200"/>
          </a:p>
        </p:txBody>
      </p:sp>
      <p:sp>
        <p:nvSpPr>
          <p:cNvPr id="29" name="Text 18"/>
          <p:cNvSpPr/>
          <p:nvPr/>
        </p:nvSpPr>
        <p:spPr>
          <a:xfrm>
            <a:off x="5216525" y="4708525"/>
            <a:ext cx="2393950" cy="552450"/>
          </a:xfrm>
          <a:prstGeom prst="roundRect">
            <a:avLst>
              <a:gd name="adj" fmla="val 12069"/>
            </a:avLst>
          </a:prstGeom>
          <a:solidFill>
            <a:srgbClr val="FFFDF8"/>
          </a:solidFill>
          <a:ln w="19050">
            <a:solidFill>
              <a:srgbClr val="172236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coverage_tracker</a:t>
            </a:r>
            <a:endParaRPr lang="en-US" sz="1500"/>
          </a:p>
        </p:txBody>
      </p:sp>
      <p:sp>
        <p:nvSpPr>
          <p:cNvPr id="30" name="Text 19"/>
          <p:cNvSpPr/>
          <p:nvPr/>
        </p:nvSpPr>
        <p:spPr>
          <a:xfrm>
            <a:off x="8255000" y="4781550"/>
            <a:ext cx="2095500" cy="406400"/>
          </a:xfrm>
          <a:custGeom>
            <a:avLst/>
            <a:gdLst/>
            <a:ahLst/>
            <a:cxnLst/>
            <a:rect l="l" t="t" r="r" b="b"/>
            <a:pathLst>
              <a:path w="2095500" h="406400">
                <a:moveTo>
                  <a:pt x="203200" y="0"/>
                </a:moveTo>
                <a:lnTo>
                  <a:pt x="1892300" y="0"/>
                </a:lnTo>
                <a:arcTo wR="203200" hR="203200" stAng="16200000" swAng="5400000"/>
                <a:lnTo>
                  <a:pt x="2095500" y="203200"/>
                </a:lnTo>
                <a:arcTo wR="203200" hR="203200" stAng="0" swAng="5400000"/>
                <a:lnTo>
                  <a:pt x="203200" y="406400"/>
                </a:lnTo>
                <a:arcTo wR="203200" hR="203200" stAng="5400000" swAng="5400000"/>
                <a:lnTo>
                  <a:pt x="0" y="203200"/>
                </a:lnTo>
                <a:arcTo wR="203200" hR="203200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206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/coverage_status</a:t>
            </a:r>
            <a:endParaRPr lang="en-US" sz="1400"/>
          </a:p>
        </p:txBody>
      </p:sp>
      <p:pic>
        <p:nvPicPr>
          <p:cNvPr id="31" name="Image 9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69200" y="4933950"/>
            <a:ext cx="736600" cy="1016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12800" y="5461000"/>
            <a:ext cx="113792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Cadre pointillé = tout ce que lance </a:t>
            </a:r>
            <a:r>
              <a:rPr lang="en-US" sz="1200" b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aspi_planned.launch.py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(avec RViz). Sur le robot réel, un autre launch remplace executor + Nav2 par notre suiveur.</a:t>
            </a:r>
            <a:endParaRPr lang="en-US" sz="1200"/>
          </a:p>
        </p:txBody>
      </p:sp>
      <p:sp>
        <p:nvSpPr>
          <p:cNvPr id="34" name="Text 2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22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 · SIMULATION · LE TERRAIN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Simulation : une pièce de 5,5 × 5 m à 9 piliers</a:t>
            </a:r>
            <a:endParaRPr lang="en-US" sz="3200"/>
          </a:p>
        </p:txBody>
      </p:sp>
      <p:pic>
        <p:nvPicPr>
          <p:cNvPr id="4" name="Image 0" descr="Gazebo : le monde turtlebot3_world, murs hexagonaux et 9 piliers blancs, le robot et ses rayons LiDAR en bleu"/>
          <p:cNvPicPr>
            <a:picLocks noChangeAspect="1"/>
          </p:cNvPicPr>
          <p:nvPr/>
        </p:nvPicPr>
        <p:blipFill>
          <a:blip r:embed="rId3"/>
          <a:srcRect t="676" b="676"/>
          <a:stretch/>
        </p:blipFill>
        <p:spPr>
          <a:xfrm>
            <a:off x="812800" y="1798321"/>
            <a:ext cx="5016500" cy="2593499"/>
          </a:xfrm>
          <a:prstGeom prst="roundRect">
            <a:avLst>
              <a:gd name="adj" fmla="val 2938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2800" y="4480719"/>
            <a:ext cx="5310886" cy="48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31"/>
              </a:lnSpc>
              <a:buNone/>
            </a:pPr>
            <a:r>
              <a:rPr lang="en-US" sz="1308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Dans Gazebo</a:t>
            </a:r>
            <a:r>
              <a:rPr lang="en-US" sz="1308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le robot, son LiDAR (rayons bleus) et la pièce turtlebot3_world.</a:t>
            </a:r>
            <a:endParaRPr lang="en-US" sz="1308"/>
          </a:p>
        </p:txBody>
      </p:sp>
      <p:sp>
        <p:nvSpPr>
          <p:cNvPr id="6" name="Shape 3"/>
          <p:cNvSpPr/>
          <p:nvPr/>
        </p:nvSpPr>
        <p:spPr>
          <a:xfrm>
            <a:off x="6223000" y="1798321"/>
            <a:ext cx="5016500" cy="2593499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Carte de la pièce : zone à couvrir en beige, plan complet de B en lignes bleues aller-retour, départ en orange, échelle 1 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501" y="1798321"/>
            <a:ext cx="2593499" cy="25934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23000" y="4480719"/>
            <a:ext cx="5310886" cy="48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31"/>
              </a:lnSpc>
              <a:buNone/>
            </a:pPr>
            <a:r>
              <a:rPr lang="en-US" sz="1308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 la carte</a:t>
            </a:r>
            <a:r>
              <a:rPr lang="en-US" sz="1308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en beige la zone à couvrir, en bleu </a:t>
            </a:r>
            <a:r>
              <a:rPr lang="en-US" sz="1308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plan</a:t>
            </a:r>
            <a:r>
              <a:rPr lang="en-US" sz="1308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B. </a:t>
            </a:r>
          </a:p>
          <a:p>
            <a:pPr marL="0" indent="0" algn="l">
              <a:lnSpc>
                <a:spcPts val="1831"/>
              </a:lnSpc>
              <a:buNone/>
            </a:pPr>
            <a:r>
              <a:rPr lang="en-US" sz="1308">
                <a:solidFill>
                  <a:srgbClr val="B04A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●</a:t>
            </a:r>
            <a:r>
              <a:rPr lang="en-US" sz="1308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départ.</a:t>
            </a:r>
            <a:endParaRPr lang="en-US" sz="1308"/>
          </a:p>
        </p:txBody>
      </p:sp>
      <p:sp>
        <p:nvSpPr>
          <p:cNvPr id="9" name="Text 5"/>
          <p:cNvSpPr/>
          <p:nvPr/>
        </p:nvSpPr>
        <p:spPr>
          <a:xfrm>
            <a:off x="891032" y="5095242"/>
            <a:ext cx="1079754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complet de B : 92 m de trajet.</a:t>
            </a:r>
            <a:endParaRPr lang="en-US" sz="140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min à 0,15 m/s : 90 m au plus.</a:t>
            </a:r>
            <a:endParaRPr lang="en-US" sz="140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Même un robot parfait ne finit pas le plan.</a:t>
            </a:r>
            <a:endParaRPr lang="en-US" sz="1400"/>
          </a:p>
        </p:txBody>
      </p:sp>
      <p:sp>
        <p:nvSpPr>
          <p:cNvPr id="10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22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 · SIMULATION · STRATÉGIE A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: il couvre au hasard, et repasse souvent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798321"/>
            <a:ext cx="4064000" cy="3702050"/>
          </a:xfrm>
          <a:prstGeom prst="roundRect">
            <a:avLst>
              <a:gd name="adj" fmla="val 2058"/>
            </a:avLst>
          </a:prstGeom>
          <a:solidFill>
            <a:srgbClr val="5E747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Capture RViz à la fin d'un essai A de 10 minutes : surface couverte en rose, traversées en tous sens, grandes zones grises jamais visitées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812800" y="1798321"/>
            <a:ext cx="4064000" cy="3702050"/>
          </a:xfrm>
          <a:prstGeom prst="roundRect">
            <a:avLst>
              <a:gd name="adj" fmla="val 2058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2800" y="5551171"/>
            <a:ext cx="41859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RViz, fin d'un essai : rose = couvert, gris clair = oublié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5232400" y="2679700"/>
            <a:ext cx="2997200" cy="1211580"/>
          </a:xfrm>
          <a:prstGeom prst="roundRect">
            <a:avLst>
              <a:gd name="adj" fmla="val 6289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384800" y="2832100"/>
            <a:ext cx="277317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Couvert en 10 min</a:t>
            </a:r>
            <a:endParaRPr lang="en-US" sz="1300"/>
          </a:p>
        </p:txBody>
      </p:sp>
      <p:sp>
        <p:nvSpPr>
          <p:cNvPr id="9" name="Text 6"/>
          <p:cNvSpPr/>
          <p:nvPr/>
        </p:nvSpPr>
        <p:spPr>
          <a:xfrm>
            <a:off x="5384800" y="3063242"/>
            <a:ext cx="277317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>
                <a:solidFill>
                  <a:srgbClr val="B04A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52 %</a:t>
            </a:r>
            <a:endParaRPr lang="en-US" sz="2600"/>
          </a:p>
        </p:txBody>
      </p:sp>
      <p:sp>
        <p:nvSpPr>
          <p:cNvPr id="10" name="Text 7"/>
          <p:cNvSpPr/>
          <p:nvPr/>
        </p:nvSpPr>
        <p:spPr>
          <a:xfrm>
            <a:off x="5384800" y="3525521"/>
            <a:ext cx="27731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moyenne de 6 essais (43 à 60 %)</a:t>
            </a:r>
            <a:endParaRPr lang="en-US" sz="1200"/>
          </a:p>
        </p:txBody>
      </p:sp>
      <p:sp>
        <p:nvSpPr>
          <p:cNvPr id="11" name="Shape 8"/>
          <p:cNvSpPr/>
          <p:nvPr/>
        </p:nvSpPr>
        <p:spPr>
          <a:xfrm>
            <a:off x="8382000" y="2679700"/>
            <a:ext cx="2997200" cy="1211580"/>
          </a:xfrm>
          <a:prstGeom prst="roundRect">
            <a:avLst>
              <a:gd name="adj" fmla="val 6289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534400" y="2832100"/>
            <a:ext cx="277317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Obstacles frôlés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8534400" y="3063242"/>
            <a:ext cx="277317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>
                <a:solidFill>
                  <a:srgbClr val="B04A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 27</a:t>
            </a:r>
            <a:endParaRPr lang="en-US" sz="2600"/>
          </a:p>
        </p:txBody>
      </p:sp>
      <p:sp>
        <p:nvSpPr>
          <p:cNvPr id="14" name="Text 11"/>
          <p:cNvSpPr/>
          <p:nvPr/>
        </p:nvSpPr>
        <p:spPr>
          <a:xfrm>
            <a:off x="8534400" y="3525521"/>
            <a:ext cx="27731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 essai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5232400" y="4043679"/>
            <a:ext cx="633120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 roule tout le temps, mais </a:t>
            </a: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rien ne lui dit où il est déjà passé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il retraverse ses traces et laisse des zones entières.</a:t>
            </a:r>
            <a:endParaRPr lang="en-US" sz="1500"/>
          </a:p>
        </p:txBody>
      </p:sp>
      <p:sp>
        <p:nvSpPr>
          <p:cNvPr id="16" name="Text 13"/>
          <p:cNvSpPr/>
          <p:nvPr/>
        </p:nvSpPr>
        <p:spPr>
          <a:xfrm>
            <a:off x="5232400" y="4729479"/>
            <a:ext cx="633120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Assez régulier : les 6 essais vont de 43 % à 60 %.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22 · capture de </a:t>
            </a: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l'essai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n°6 · couche « </a:t>
            </a: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coverage_map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» </a:t>
            </a: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publiée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par </a:t>
            </a: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notre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nœud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 </a:t>
            </a: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mesure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 · SIMULATION · STRATÉGIE B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4"/>
            <a:ext cx="11379200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: en bandes régulières… quand Nav2 ne se bloque pas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798321"/>
            <a:ext cx="2794000" cy="3409950"/>
          </a:xfrm>
          <a:prstGeom prst="roundRect">
            <a:avLst>
              <a:gd name="adj" fmla="val 2727"/>
            </a:avLst>
          </a:prstGeom>
          <a:solidFill>
            <a:srgbClr val="5E747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Capture RViz à la fin d'un essai B réussi : lignes vertes du plan, surface couverte en rose sur les deux tiers bas de la pièce"/>
          <p:cNvPicPr>
            <a:picLocks noChangeAspect="1"/>
          </p:cNvPicPr>
          <p:nvPr/>
        </p:nvPicPr>
        <p:blipFill>
          <a:blip r:embed="rId3"/>
          <a:srcRect t="-29" b="-29"/>
          <a:stretch/>
        </p:blipFill>
        <p:spPr>
          <a:xfrm>
            <a:off x="812800" y="1798321"/>
            <a:ext cx="2794000" cy="3409950"/>
          </a:xfrm>
          <a:prstGeom prst="roundRect">
            <a:avLst>
              <a:gd name="adj" fmla="val 2727"/>
            </a:avLst>
          </a:prstGeom>
        </p:spPr>
      </p:pic>
      <p:sp>
        <p:nvSpPr>
          <p:cNvPr id="6" name="Text 3"/>
          <p:cNvSpPr/>
          <p:nvPr/>
        </p:nvSpPr>
        <p:spPr>
          <a:xfrm>
            <a:off x="812800" y="5259071"/>
            <a:ext cx="28778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1F5F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Réussi</a:t>
            </a:r>
            <a:r>
              <a:rPr lang="en-US" sz="1200">
                <a:solidFill>
                  <a:srgbClr val="1F5F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62 %, le haut reste à faire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3860800" y="1798321"/>
            <a:ext cx="2794000" cy="3409950"/>
          </a:xfrm>
          <a:prstGeom prst="roundRect">
            <a:avLst>
              <a:gd name="adj" fmla="val 2727"/>
            </a:avLst>
          </a:prstGeom>
          <a:solidFill>
            <a:srgbClr val="5E747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Capture RViz à la fin d'un essai B bloqué : seule une bande rose en bas à gauche, robot arrêté près d'un pili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800" y="2230224"/>
            <a:ext cx="2794000" cy="25461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60800" y="5259071"/>
            <a:ext cx="28778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>
                <a:solidFill>
                  <a:srgbClr val="B04A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Bloqué</a:t>
            </a:r>
            <a:r>
              <a:rPr lang="en-US" sz="1200">
                <a:solidFill>
                  <a:srgbClr val="B04A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22 %, arrêté près d'un pilier</a:t>
            </a:r>
            <a:endParaRPr lang="en-US" sz="1200"/>
          </a:p>
        </p:txBody>
      </p:sp>
      <p:sp>
        <p:nvSpPr>
          <p:cNvPr id="10" name="Shape 6"/>
          <p:cNvSpPr/>
          <p:nvPr/>
        </p:nvSpPr>
        <p:spPr>
          <a:xfrm>
            <a:off x="6908800" y="2635250"/>
            <a:ext cx="4470400" cy="1115060"/>
          </a:xfrm>
          <a:prstGeom prst="roundRect">
            <a:avLst>
              <a:gd name="adj" fmla="val 6834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7048500" y="2774950"/>
            <a:ext cx="431673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Réussis</a:t>
            </a:r>
            <a:endParaRPr lang="en-US" sz="1300"/>
          </a:p>
        </p:txBody>
      </p:sp>
      <p:sp>
        <p:nvSpPr>
          <p:cNvPr id="12" name="Text 8"/>
          <p:cNvSpPr/>
          <p:nvPr/>
        </p:nvSpPr>
        <p:spPr>
          <a:xfrm>
            <a:off x="7048500" y="3006092"/>
            <a:ext cx="431673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1F5F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55 à 62 % </a:t>
            </a:r>
            <a:endParaRPr lang="en-US" sz="2200"/>
          </a:p>
        </p:txBody>
      </p:sp>
      <p:sp>
        <p:nvSpPr>
          <p:cNvPr id="13" name="Text 9"/>
          <p:cNvSpPr/>
          <p:nvPr/>
        </p:nvSpPr>
        <p:spPr>
          <a:xfrm>
            <a:off x="7048500" y="3397250"/>
            <a:ext cx="4316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</a:t>
            </a:r>
            <a:r>
              <a:rPr lang="en-US" sz="1200" err="1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essais</a:t>
            </a: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sur 7 </a:t>
            </a:r>
            <a:endParaRPr lang="en-US" sz="1200"/>
          </a:p>
        </p:txBody>
      </p:sp>
      <p:sp>
        <p:nvSpPr>
          <p:cNvPr id="14" name="Shape 10"/>
          <p:cNvSpPr/>
          <p:nvPr/>
        </p:nvSpPr>
        <p:spPr>
          <a:xfrm>
            <a:off x="6908800" y="3890014"/>
            <a:ext cx="4470400" cy="1115060"/>
          </a:xfrm>
          <a:prstGeom prst="roundRect">
            <a:avLst>
              <a:gd name="adj" fmla="val 6834"/>
            </a:avLst>
          </a:prstGeom>
          <a:solidFill>
            <a:srgbClr val="F3DCC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7048500" y="4029714"/>
            <a:ext cx="431673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Bloqués</a:t>
            </a:r>
            <a:endParaRPr lang="en-US" sz="1300"/>
          </a:p>
        </p:txBody>
      </p:sp>
      <p:sp>
        <p:nvSpPr>
          <p:cNvPr id="16" name="Text 12"/>
          <p:cNvSpPr/>
          <p:nvPr/>
        </p:nvSpPr>
        <p:spPr>
          <a:xfrm>
            <a:off x="7048500" y="4260850"/>
            <a:ext cx="431673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B04A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à 22 %</a:t>
            </a:r>
            <a:endParaRPr lang="en-US" sz="2200"/>
          </a:p>
        </p:txBody>
      </p:sp>
      <p:sp>
        <p:nvSpPr>
          <p:cNvPr id="17" name="Text 13"/>
          <p:cNvSpPr/>
          <p:nvPr/>
        </p:nvSpPr>
        <p:spPr>
          <a:xfrm>
            <a:off x="7048500" y="4652014"/>
            <a:ext cx="43167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</a:t>
            </a:r>
            <a:r>
              <a:rPr lang="en-US" sz="1200" err="1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essais</a:t>
            </a: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sur 7</a:t>
            </a:r>
            <a:endParaRPr lang="en-US" sz="1200"/>
          </a:p>
        </p:txBody>
      </p:sp>
      <p:sp>
        <p:nvSpPr>
          <p:cNvPr id="18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22 · captures RViz · vert = plan de B · rose = </a:t>
            </a: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couvert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3 · SIMULATION · CONCLUSION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simulation : le plan est bon, Nav2 le freine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798321"/>
            <a:ext cx="5715000" cy="3213100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Courbes en simulation : A (moyenne de 6 essais) et B (moyenne des 3 essais réussis) restent ensemble 7 minutes, puis B passe devant, 59 % contre 52 % ; deux essais B bloqués à 17 et 22 %"/>
          <p:cNvPicPr>
            <a:picLocks noChangeAspect="1"/>
          </p:cNvPicPr>
          <p:nvPr/>
        </p:nvPicPr>
        <p:blipFill>
          <a:blip r:embed="rId3"/>
          <a:srcRect l="-25" r="-25"/>
          <a:stretch/>
        </p:blipFill>
        <p:spPr>
          <a:xfrm>
            <a:off x="812800" y="1798321"/>
            <a:ext cx="5715000" cy="3213100"/>
          </a:xfrm>
          <a:prstGeom prst="roundRect">
            <a:avLst>
              <a:gd name="adj" fmla="val 2372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832600" y="2484754"/>
            <a:ext cx="4546600" cy="734060"/>
          </a:xfrm>
          <a:prstGeom prst="roundRect">
            <a:avLst>
              <a:gd name="adj" fmla="val 10381"/>
            </a:avLst>
          </a:prstGeom>
          <a:solidFill>
            <a:srgbClr val="F6F4EE"/>
          </a:solidFill>
          <a:ln/>
        </p:spPr>
        <p:txBody>
          <a:bodyPr wrap="square" lIns="130082" tIns="104682" rIns="2828" bIns="792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Quand il réussit, B passe devant A après 7 min : 59 % contre 52 %.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6832600" y="3333117"/>
            <a:ext cx="4546600" cy="974090"/>
          </a:xfrm>
          <a:prstGeom prst="roundRect">
            <a:avLst>
              <a:gd name="adj" fmla="val 7823"/>
            </a:avLst>
          </a:prstGeom>
          <a:solidFill>
            <a:srgbClr val="F6F4EE"/>
          </a:solidFill>
          <a:ln/>
        </p:spPr>
        <p:txBody>
          <a:bodyPr wrap="square" lIns="130082" tIns="104682" rIns="2828" bIns="792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Dans le </a:t>
            </a:r>
            <a:r>
              <a:rPr lang="en-US" sz="1350" err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meilleur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des </a:t>
            </a:r>
            <a:r>
              <a:rPr lang="en-US" sz="1350" err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B couvrirait 76 % s'il suivait son plan sans s'arrêter. Il fait 60 % : Nav2 perd du temps en arrêts et en rotations.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6832600" y="4421504"/>
            <a:ext cx="4546600" cy="734060"/>
          </a:xfrm>
          <a:prstGeom prst="roundRect">
            <a:avLst>
              <a:gd name="adj" fmla="val 10381"/>
            </a:avLst>
          </a:prstGeom>
          <a:solidFill>
            <a:srgbClr val="F6F4EE"/>
          </a:solidFill>
          <a:ln/>
        </p:spPr>
        <p:txBody>
          <a:bodyPr wrap="square" lIns="130082" tIns="104682" rIns="2828" bIns="792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4 essais sur 7 bloqués, toujours dans Nav2, le programme qui conduit le robot de point en point.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22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 · ROBOT RÉEL · LE TERRAIN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terrain réel : une zone en carton de 1,6 m²</a:t>
            </a:r>
            <a:endParaRPr lang="en-US" sz="3200"/>
          </a:p>
        </p:txBody>
      </p:sp>
      <p:sp>
        <p:nvSpPr>
          <p:cNvPr id="7" name="Shape 4"/>
          <p:cNvSpPr/>
          <p:nvPr/>
        </p:nvSpPr>
        <p:spPr>
          <a:xfrm>
            <a:off x="4422934" y="1798321"/>
            <a:ext cx="33020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Carte de la zone réelle : zone à couvrir en beige, trajet de B en 5 allers-retou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434" y="1798321"/>
            <a:ext cx="2667000" cy="2667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22934" y="4554221"/>
            <a:ext cx="347782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carte et le plan de B</a:t>
            </a: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7 lignes, donc 14 points de passage (les deux bouts de chaque ligne).</a:t>
            </a:r>
            <a:endParaRPr lang="en-US" sz="1300"/>
          </a:p>
        </p:txBody>
      </p:sp>
      <p:sp>
        <p:nvSpPr>
          <p:cNvPr id="10" name="Shape 6"/>
          <p:cNvSpPr/>
          <p:nvPr/>
        </p:nvSpPr>
        <p:spPr>
          <a:xfrm>
            <a:off x="8002667" y="1798321"/>
            <a:ext cx="3302000" cy="2667000"/>
          </a:xfrm>
          <a:prstGeom prst="roundRect">
            <a:avLst>
              <a:gd name="adj" fmla="val 2857"/>
            </a:avLst>
          </a:prstGeom>
          <a:solidFill>
            <a:srgbClr val="30363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2" descr="RViz pendant un essai réel : trajet vert, surface couverte rose, points LiDAR rouges décalés par rapport aux murs de la car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206" y="1798321"/>
            <a:ext cx="3008923" cy="2667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02667" y="4554221"/>
            <a:ext cx="3477829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RViz pendant l'essai</a:t>
            </a: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le LiDAR (rouge) est tourné par rapport aux murs : la position du robot, estimée par les roues seules, a dérivé en angle.</a:t>
            </a:r>
            <a:endParaRPr lang="en-US" sz="1300"/>
          </a:p>
        </p:txBody>
      </p:sp>
      <p:sp>
        <p:nvSpPr>
          <p:cNvPr id="13" name="Text 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22</a:t>
            </a:r>
            <a:endParaRPr lang="en-US" sz="1200"/>
          </a:p>
        </p:txBody>
      </p:sp>
      <p:pic>
        <p:nvPicPr>
          <p:cNvPr id="15" name="Photo zone carton" descr="La zone en carton et le robot">
            <a:extLst>
              <a:ext uri="{FF2B5EF4-FFF2-40B4-BE49-F238E27FC236}">
                <a16:creationId xmlns:a16="http://schemas.microsoft.com/office/drawing/2014/main" id="{E78212C1-874A-417F-9034-F9629B003FD8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325" y="1798321"/>
            <a:ext cx="3387884" cy="2540913"/>
          </a:xfrm>
          <a:prstGeom prst="rect">
            <a:avLst/>
          </a:prstGeom>
        </p:spPr>
      </p:pic>
      <p:sp>
        <p:nvSpPr>
          <p:cNvPr id="4" name="Text 3">
            <a:extLst>
              <a:ext uri="{FF2B5EF4-FFF2-40B4-BE49-F238E27FC236}">
                <a16:creationId xmlns:a16="http://schemas.microsoft.com/office/drawing/2014/main" id="{C8D0A74E-88FB-E96E-F9A4-41E625B6415B}"/>
              </a:ext>
            </a:extLst>
          </p:cNvPr>
          <p:cNvSpPr/>
          <p:nvPr/>
        </p:nvSpPr>
        <p:spPr>
          <a:xfrm>
            <a:off x="822325" y="4554221"/>
            <a:ext cx="347782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zone en carton</a:t>
            </a:r>
            <a:r>
              <a:rPr lang="fr-FR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1,6 m², murs surlignés en rouge, et le robot.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 · ROBOT RÉEL · STRATÉGIE A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sur le vrai robot : </a:t>
            </a:r>
            <a:r>
              <a:rPr lang="en-US" sz="3200" b="1" i="0" err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plafonne</a:t>
            </a: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vers 74 %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798321"/>
            <a:ext cx="6096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Robot réel, stratégie A : deux essais qui montent par paliers, avec des plateaux, jusqu'à 73 et 75 % en 5 minutes, sans atteindre 80 %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798321"/>
            <a:ext cx="6096000" cy="3429000"/>
          </a:xfrm>
          <a:prstGeom prst="roundRect">
            <a:avLst>
              <a:gd name="adj" fmla="val 2222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162800" y="1791189"/>
            <a:ext cx="4216400" cy="1089660"/>
          </a:xfrm>
          <a:prstGeom prst="roundRect">
            <a:avLst>
              <a:gd name="adj" fmla="val 6993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0" y="1918189"/>
            <a:ext cx="402894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5 min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7315200" y="2149331"/>
            <a:ext cx="402894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B04A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73 et 75 %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7315200" y="2540489"/>
            <a:ext cx="4028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80 % jamais atteint · 20 m roulés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7162800" y="3007853"/>
            <a:ext cx="434289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plateaux</a:t>
            </a: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il roule sans rien gagner. Il repasse où il est passé, ou longe les </a:t>
            </a:r>
            <a:r>
              <a:rPr lang="en-US" sz="1400" err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murs</a:t>
            </a: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22</a:t>
            </a:r>
            <a:endParaRPr lang="en-US" sz="1200"/>
          </a:p>
        </p:txBody>
      </p:sp>
      <p:pic>
        <p:nvPicPr>
          <p:cNvPr id="13" name="GIF essai A" descr="Essai réel de la stratégie A (accéléré, 30 s, en boucle)">
            <a:extLst>
              <a:ext uri="{FF2B5EF4-FFF2-40B4-BE49-F238E27FC236}">
                <a16:creationId xmlns:a16="http://schemas.microsoft.com/office/drawing/2014/main" id="{92366568-6B4E-0036-382A-255F44D4BA5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3907012"/>
            <a:ext cx="4342892" cy="2331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 · ROBOT RÉEL · STRATÉGIE B · LE PROBLÈME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 le vrai robot, Nav2 ne fait pas rouler le robot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812800" y="2310222"/>
            <a:ext cx="531088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Comment Nav2 sait où est le robot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742465" y="2849102"/>
            <a:ext cx="5156200" cy="434658"/>
          </a:xfrm>
          <a:prstGeom prst="roundRect">
            <a:avLst>
              <a:gd name="adj" fmla="val 17531"/>
            </a:avLst>
          </a:prstGeom>
          <a:solidFill>
            <a:srgbClr val="ECE8DE"/>
          </a:solidFill>
          <a:ln/>
        </p:spPr>
        <p:txBody>
          <a:bodyPr wrap="square" lIns="117382" tIns="79282" rIns="0" bIns="53882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Le LiDAR mesure les distances aux murs.</a:t>
            </a:r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742465" y="3359954"/>
            <a:ext cx="5156200" cy="666115"/>
          </a:xfrm>
          <a:prstGeom prst="roundRect">
            <a:avLst>
              <a:gd name="adj" fmla="val 11439"/>
            </a:avLst>
          </a:prstGeom>
          <a:solidFill>
            <a:srgbClr val="ECE8DE"/>
          </a:solidFill>
          <a:ln/>
        </p:spPr>
        <p:txBody>
          <a:bodyPr wrap="square" lIns="117382" tIns="79282" rIns="0" bIns="53882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AMCL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compare ces mesures à la carte et en déduit la position du robot.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742465" y="4102272"/>
            <a:ext cx="5156200" cy="666115"/>
          </a:xfrm>
          <a:prstGeom prst="roundRect">
            <a:avLst>
              <a:gd name="adj" fmla="val 11439"/>
            </a:avLst>
          </a:prstGeom>
          <a:solidFill>
            <a:srgbClr val="ECE8DE"/>
          </a:solidFill>
          <a:ln/>
        </p:spPr>
        <p:txBody>
          <a:bodyPr wrap="square" lIns="117382" tIns="79282" rIns="0" bIns="53882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Nav2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utilise cette position pour décider où aller et à quelle vitesse.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6223000" y="2310222"/>
            <a:ext cx="531088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B04A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qui n'allait pas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6152665" y="2849102"/>
            <a:ext cx="5156200" cy="666115"/>
          </a:xfrm>
          <a:prstGeom prst="roundRect">
            <a:avLst>
              <a:gd name="adj" fmla="val 11439"/>
            </a:avLst>
          </a:prstGeom>
          <a:solidFill>
            <a:srgbClr val="F3DCC6"/>
          </a:solidFill>
          <a:ln/>
        </p:spPr>
        <p:txBody>
          <a:bodyPr wrap="square" lIns="117382" tIns="79282" rIns="0" bIns="53882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position donnée par AMCL arrivait à Nav2 avec </a:t>
            </a: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27 s de retard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Nav2 croyait le robot là où il était 27 s plus tôt.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6152665" y="3591413"/>
            <a:ext cx="5156200" cy="666115"/>
          </a:xfrm>
          <a:prstGeom prst="roundRect">
            <a:avLst>
              <a:gd name="adj" fmla="val 11439"/>
            </a:avLst>
          </a:prstGeom>
          <a:solidFill>
            <a:srgbClr val="F3DCC6"/>
          </a:solidFill>
          <a:ln/>
        </p:spPr>
        <p:txBody>
          <a:bodyPr wrap="square" lIns="117382" tIns="79282" rIns="0" bIns="53882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Résultat : Nav2 disait « arrivé » alors que le robot n'avait pas bougé (vérifié avec les roues).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6152665" y="4333730"/>
            <a:ext cx="5156200" cy="666115"/>
          </a:xfrm>
          <a:prstGeom prst="roundRect">
            <a:avLst>
              <a:gd name="adj" fmla="val 11439"/>
            </a:avLst>
          </a:prstGeom>
          <a:solidFill>
            <a:srgbClr val="ECE8DE"/>
          </a:solidFill>
          <a:ln/>
        </p:spPr>
        <p:txBody>
          <a:bodyPr wrap="square" lIns="117382" tIns="79282" rIns="0" bIns="53882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Tenté : horloge du robot recalée, Wi-Fi vérifié, Nav2 réglé. Cause exacte non trouvée.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/ 22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 · ROBOT RÉEL · STRATÉGIE B · NOTRE SOLUTION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64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Notre solution : un suiveur simple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669925" y="1800225"/>
            <a:ext cx="10852150" cy="933450"/>
          </a:xfrm>
          <a:prstGeom prst="roundRect">
            <a:avLst>
              <a:gd name="adj" fmla="val 12585"/>
            </a:avLst>
          </a:prstGeom>
          <a:noFill/>
          <a:ln w="19050">
            <a:solidFill>
              <a:srgbClr val="6A718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839200" y="1676400"/>
            <a:ext cx="2540000" cy="213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aspi_real_follow.launch.py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898525" y="1990725"/>
            <a:ext cx="2139950" cy="552450"/>
          </a:xfrm>
          <a:prstGeom prst="roundRect">
            <a:avLst>
              <a:gd name="adj" fmla="val 12069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coverage_planner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3556000" y="2063750"/>
            <a:ext cx="1778000" cy="406083"/>
          </a:xfrm>
          <a:custGeom>
            <a:avLst/>
            <a:gdLst/>
            <a:ahLst/>
            <a:cxnLst/>
            <a:rect l="l" t="t" r="r" b="b"/>
            <a:pathLst>
              <a:path w="1778000" h="406083">
                <a:moveTo>
                  <a:pt x="203041" y="0"/>
                </a:moveTo>
                <a:lnTo>
                  <a:pt x="1574959" y="0"/>
                </a:lnTo>
                <a:arcTo wR="203041" hR="203041" stAng="16200000" swAng="5400000"/>
                <a:lnTo>
                  <a:pt x="1778000" y="203041"/>
                </a:lnTo>
                <a:arcTo wR="203041" hR="203041" stAng="0" swAng="5400000"/>
                <a:lnTo>
                  <a:pt x="203041" y="406083"/>
                </a:lnTo>
                <a:arcTo wR="203041" hR="203041" stAng="5400000" swAng="5400000"/>
                <a:lnTo>
                  <a:pt x="0" y="203041"/>
                </a:lnTo>
                <a:arcTo wR="203041" hR="203041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198"/>
              </a:lnSpc>
              <a:buNone/>
            </a:pPr>
            <a:r>
              <a:rPr lang="en-US" sz="13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/coverage_path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5851525" y="1990725"/>
            <a:ext cx="2266950" cy="552450"/>
          </a:xfrm>
          <a:prstGeom prst="roundRect">
            <a:avLst>
              <a:gd name="adj" fmla="val 12069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coverage_follower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8636000" y="2063750"/>
            <a:ext cx="1143000" cy="406083"/>
          </a:xfrm>
          <a:custGeom>
            <a:avLst/>
            <a:gdLst/>
            <a:ahLst/>
            <a:cxnLst/>
            <a:rect l="l" t="t" r="r" b="b"/>
            <a:pathLst>
              <a:path w="1143000" h="406083">
                <a:moveTo>
                  <a:pt x="203041" y="0"/>
                </a:moveTo>
                <a:lnTo>
                  <a:pt x="939959" y="0"/>
                </a:lnTo>
                <a:arcTo wR="203041" hR="203041" stAng="16200000" swAng="5400000"/>
                <a:lnTo>
                  <a:pt x="1143000" y="203041"/>
                </a:lnTo>
                <a:arcTo wR="203041" hR="203041" stAng="0" swAng="5400000"/>
                <a:lnTo>
                  <a:pt x="203041" y="406083"/>
                </a:lnTo>
                <a:arcTo wR="203041" hR="203041" stAng="5400000" swAng="5400000"/>
                <a:lnTo>
                  <a:pt x="0" y="203041"/>
                </a:lnTo>
                <a:arcTo wR="203041" hR="203041" stAng="10800000" swAng="5400000"/>
                <a:close/>
              </a:path>
            </a:pathLst>
          </a:custGeom>
          <a:solidFill>
            <a:srgbClr val="F3DCC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198"/>
              </a:lnSpc>
              <a:buNone/>
            </a:pPr>
            <a:r>
              <a:rPr lang="en-US" sz="13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/cmd_vel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0160000" y="1981200"/>
            <a:ext cx="1219200" cy="571500"/>
          </a:xfrm>
          <a:prstGeom prst="roundRect">
            <a:avLst>
              <a:gd name="adj" fmla="val 13333"/>
            </a:avLst>
          </a:prstGeom>
          <a:solidFill>
            <a:srgbClr val="172236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Robot</a:t>
            </a:r>
            <a:endParaRPr lang="en-US" sz="1400"/>
          </a:p>
        </p:txBody>
      </p:sp>
      <p:pic>
        <p:nvPicPr>
          <p:cNvPr id="11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97200" y="2216150"/>
            <a:ext cx="609600" cy="101600"/>
          </a:xfrm>
          <a:prstGeom prst="rect">
            <a:avLst/>
          </a:prstGeom>
        </p:spPr>
      </p:pic>
      <p:pic>
        <p:nvPicPr>
          <p:cNvPr id="12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83200" y="2216150"/>
            <a:ext cx="609600" cy="101600"/>
          </a:xfrm>
          <a:prstGeom prst="rect">
            <a:avLst/>
          </a:prstGeom>
        </p:spPr>
      </p:pic>
      <p:pic>
        <p:nvPicPr>
          <p:cNvPr id="13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7200" y="2216150"/>
            <a:ext cx="609600" cy="101600"/>
          </a:xfrm>
          <a:prstGeom prst="rect">
            <a:avLst/>
          </a:prstGeom>
        </p:spPr>
      </p:pic>
      <p:pic>
        <p:nvPicPr>
          <p:cNvPr id="14" name="Image 3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28200" y="2216150"/>
            <a:ext cx="482600" cy="101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12800" y="2984500"/>
            <a:ext cx="525856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C'est quoi ?</a:t>
            </a:r>
            <a:endParaRPr lang="en-US" sz="1600"/>
          </a:p>
        </p:txBody>
      </p:sp>
      <p:sp>
        <p:nvSpPr>
          <p:cNvPr id="16" name="Text 10"/>
          <p:cNvSpPr/>
          <p:nvPr/>
        </p:nvSpPr>
        <p:spPr>
          <a:xfrm>
            <a:off x="812800" y="3329942"/>
            <a:ext cx="525856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</a:t>
            </a:r>
            <a:r>
              <a:rPr lang="en-US" sz="1400" err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nœud</a:t>
            </a:r>
            <a:r>
              <a:rPr lang="en-US" sz="1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ROS. Il reçoit les points du plan et commande directement les roues.</a:t>
            </a:r>
            <a:endParaRPr lang="en-US" sz="1400"/>
          </a:p>
        </p:txBody>
      </p:sp>
      <p:sp>
        <p:nvSpPr>
          <p:cNvPr id="17" name="Text 11"/>
          <p:cNvSpPr/>
          <p:nvPr/>
        </p:nvSpPr>
        <p:spPr>
          <a:xfrm>
            <a:off x="812800" y="3929379"/>
            <a:ext cx="52585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 n'utilise ni AMCL ni Nav2 : la position vient des roues seules.</a:t>
            </a:r>
            <a:endParaRPr lang="en-US" sz="1400"/>
          </a:p>
        </p:txBody>
      </p:sp>
      <p:sp>
        <p:nvSpPr>
          <p:cNvPr id="18" name="Text 12"/>
          <p:cNvSpPr/>
          <p:nvPr/>
        </p:nvSpPr>
        <p:spPr>
          <a:xfrm>
            <a:off x="812800" y="4279900"/>
            <a:ext cx="5105400" cy="871220"/>
          </a:xfrm>
          <a:prstGeom prst="roundRect">
            <a:avLst>
              <a:gd name="adj" fmla="val 8746"/>
            </a:avLst>
          </a:prstGeom>
          <a:solidFill>
            <a:srgbClr val="F3DCC6"/>
          </a:solidFill>
          <a:ln/>
        </p:spPr>
        <p:txBody>
          <a:bodyPr wrap="square" lIns="104682" tIns="66582" rIns="0" bIns="411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Écarts possibles</a:t>
            </a:r>
            <a:r>
              <a:rPr lang="en-US" sz="13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pas d'évitement d'obstacle (il s'arrête), position qui dérive, point sauté après 40 s. Et ce n'est pas le même conducteur qu'en simulation.</a:t>
            </a:r>
            <a:endParaRPr lang="en-US" sz="1300"/>
          </a:p>
        </p:txBody>
      </p:sp>
      <p:sp>
        <p:nvSpPr>
          <p:cNvPr id="19" name="Text 13"/>
          <p:cNvSpPr/>
          <p:nvPr/>
        </p:nvSpPr>
        <p:spPr>
          <a:xfrm>
            <a:off x="6273800" y="2984500"/>
            <a:ext cx="5105400" cy="426720"/>
          </a:xfrm>
          <a:prstGeom prst="roundRect">
            <a:avLst>
              <a:gd name="adj" fmla="val 17857"/>
            </a:avLst>
          </a:prstGeom>
          <a:solidFill>
            <a:srgbClr val="ECE8DE"/>
          </a:solidFill>
          <a:ln/>
        </p:spPr>
        <p:txBody>
          <a:bodyPr wrap="square" lIns="31911" tIns="66582" rIns="31911" bIns="4118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 suivant du plan</a:t>
            </a:r>
            <a:endParaRPr lang="en-US" sz="1400"/>
          </a:p>
        </p:txBody>
      </p:sp>
      <p:sp>
        <p:nvSpPr>
          <p:cNvPr id="20" name="Text 14"/>
          <p:cNvSpPr/>
          <p:nvPr/>
        </p:nvSpPr>
        <p:spPr>
          <a:xfrm>
            <a:off x="6283325" y="3484246"/>
            <a:ext cx="5086350" cy="438150"/>
          </a:xfrm>
          <a:prstGeom prst="roundRect">
            <a:avLst>
              <a:gd name="adj" fmla="val 15217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40873" tIns="75087" rIns="40873" bIns="49687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Mal orienté (&gt; 20°) ? → </a:t>
            </a: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tourner</a:t>
            </a: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sur place</a:t>
            </a:r>
            <a:endParaRPr lang="en-US" sz="1400"/>
          </a:p>
        </p:txBody>
      </p:sp>
      <p:sp>
        <p:nvSpPr>
          <p:cNvPr id="21" name="Text 15"/>
          <p:cNvSpPr/>
          <p:nvPr/>
        </p:nvSpPr>
        <p:spPr>
          <a:xfrm>
            <a:off x="6283325" y="4004946"/>
            <a:ext cx="5086350" cy="438150"/>
          </a:xfrm>
          <a:prstGeom prst="roundRect">
            <a:avLst>
              <a:gd name="adj" fmla="val 15217"/>
            </a:avLst>
          </a:prstGeom>
          <a:solidFill>
            <a:srgbClr val="FFFDF8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40873" tIns="75087" rIns="40873" bIns="49687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Sinon → </a:t>
            </a: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avancer</a:t>
            </a: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 corrigeant le cap</a:t>
            </a:r>
            <a:endParaRPr lang="en-US" sz="1400"/>
          </a:p>
        </p:txBody>
      </p:sp>
      <p:sp>
        <p:nvSpPr>
          <p:cNvPr id="22" name="Text 16"/>
          <p:cNvSpPr/>
          <p:nvPr/>
        </p:nvSpPr>
        <p:spPr>
          <a:xfrm>
            <a:off x="6273800" y="4516121"/>
            <a:ext cx="5105400" cy="426720"/>
          </a:xfrm>
          <a:prstGeom prst="roundRect">
            <a:avLst>
              <a:gd name="adj" fmla="val 17857"/>
            </a:avLst>
          </a:prstGeom>
          <a:solidFill>
            <a:srgbClr val="ECE8DE"/>
          </a:solidFill>
          <a:ln/>
        </p:spPr>
        <p:txBody>
          <a:bodyPr wrap="square" lIns="31911" tIns="66582" rIns="31911" bIns="41182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À moins de 8 cm → point suivant</a:t>
            </a:r>
            <a:endParaRPr lang="en-US" sz="1400"/>
          </a:p>
        </p:txBody>
      </p:sp>
      <p:sp>
        <p:nvSpPr>
          <p:cNvPr id="23" name="Text 1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/ 22 · même planner, même plan qu'en simulation · seul le conducteur change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 · ROBOT RÉEL · STRATÉGIE B · RÉSULTAT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avec le suiveur : 80 % en 2 min, trajet fini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798327"/>
            <a:ext cx="6096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Robot réel, stratégie B avec le suiveur : deux essais qui dépassent 80 % vers 2 minutes et finissent à 98 et 96,5 %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798327"/>
            <a:ext cx="6096000" cy="3429000"/>
          </a:xfrm>
          <a:prstGeom prst="roundRect">
            <a:avLst>
              <a:gd name="adj" fmla="val 2222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162800" y="1798327"/>
            <a:ext cx="4216400" cy="1089660"/>
          </a:xfrm>
          <a:prstGeom prst="roundRect">
            <a:avLst>
              <a:gd name="adj" fmla="val 6993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0" y="1925327"/>
            <a:ext cx="402894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Trajet fini en 2,5 min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7315200" y="2156458"/>
            <a:ext cx="402894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1F5F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98 et 96,5 %</a:t>
            </a:r>
            <a:endParaRPr lang="en-US" sz="2200"/>
          </a:p>
        </p:txBody>
      </p:sp>
      <p:sp>
        <p:nvSpPr>
          <p:cNvPr id="9" name="Text 6"/>
          <p:cNvSpPr/>
          <p:nvPr/>
        </p:nvSpPr>
        <p:spPr>
          <a:xfrm>
            <a:off x="7315200" y="2547627"/>
            <a:ext cx="4028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80 % en 125 et 134 s</a:t>
            </a:r>
            <a:endParaRPr lang="en-US" sz="1200"/>
          </a:p>
        </p:txBody>
      </p:sp>
      <p:sp>
        <p:nvSpPr>
          <p:cNvPr id="13" name="Text 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/ 22</a:t>
            </a:r>
            <a:endParaRPr lang="en-US" sz="1200"/>
          </a:p>
        </p:txBody>
      </p:sp>
      <p:pic>
        <p:nvPicPr>
          <p:cNvPr id="11" name="GIF essai B" descr="Essai réel de la stratégie B (accéléré, 30 s, en boucle)">
            <a:extLst>
              <a:ext uri="{FF2B5EF4-FFF2-40B4-BE49-F238E27FC236}">
                <a16:creationId xmlns:a16="http://schemas.microsoft.com/office/drawing/2014/main" id="{4397214B-131E-C14B-41D9-0E71B1C8F3C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296061" y="3024511"/>
            <a:ext cx="3949878" cy="22028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4 · ROBOT RÉEL · CONCLUSION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 le vrai robot, B fait mieux, à confirmer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798327"/>
            <a:ext cx="5715000" cy="3213100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Robot réel : B dépasse 80 % vers 2 minutes, A reste sous 75 % en 5 minutes"/>
          <p:cNvPicPr>
            <a:picLocks noChangeAspect="1"/>
          </p:cNvPicPr>
          <p:nvPr/>
        </p:nvPicPr>
        <p:blipFill>
          <a:blip r:embed="rId3"/>
          <a:srcRect l="-25" r="-25"/>
          <a:stretch/>
        </p:blipFill>
        <p:spPr>
          <a:xfrm>
            <a:off x="812800" y="1798327"/>
            <a:ext cx="5715000" cy="3213100"/>
          </a:xfrm>
          <a:prstGeom prst="roundRect">
            <a:avLst>
              <a:gd name="adj" fmla="val 2372"/>
            </a:avLst>
          </a:prstGeom>
        </p:spPr>
      </p:pic>
      <p:sp>
        <p:nvSpPr>
          <p:cNvPr id="6" name="Text 3"/>
          <p:cNvSpPr/>
          <p:nvPr/>
        </p:nvSpPr>
        <p:spPr>
          <a:xfrm>
            <a:off x="6832600" y="2484760"/>
            <a:ext cx="4546600" cy="494030"/>
          </a:xfrm>
          <a:prstGeom prst="roundRect">
            <a:avLst>
              <a:gd name="adj" fmla="val 15424"/>
            </a:avLst>
          </a:prstGeom>
          <a:solidFill>
            <a:srgbClr val="F6F4EE"/>
          </a:solidFill>
          <a:ln/>
        </p:spPr>
        <p:txBody>
          <a:bodyPr wrap="square" lIns="130082" tIns="104682" rIns="2828" bIns="792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80 % en 2 min avec 10 m. </a:t>
            </a: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jamais, avec 20 m.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6832600" y="3093083"/>
            <a:ext cx="4546600" cy="974090"/>
          </a:xfrm>
          <a:prstGeom prst="roundRect">
            <a:avLst>
              <a:gd name="adj" fmla="val 7823"/>
            </a:avLst>
          </a:prstGeom>
          <a:solidFill>
            <a:srgbClr val="F6F4EE"/>
          </a:solidFill>
          <a:ln/>
        </p:spPr>
        <p:txBody>
          <a:bodyPr wrap="square" lIns="130082" tIns="104682" rIns="2828" bIns="792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Pourquoi plus net qu'en simulation ?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 zone est petite : le plan se finit en 2,5 min, et le suiveur ne perd pas de temps comme Nav2.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6832600" y="4181475"/>
            <a:ext cx="4546600" cy="974090"/>
          </a:xfrm>
          <a:prstGeom prst="roundRect">
            <a:avLst>
              <a:gd name="adj" fmla="val 7823"/>
            </a:avLst>
          </a:prstGeom>
          <a:solidFill>
            <a:srgbClr val="F3DCC6"/>
          </a:solidFill>
          <a:ln/>
        </p:spPr>
        <p:txBody>
          <a:bodyPr wrap="square" lIns="130082" tIns="104682" rIns="2828" bIns="792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Résultat discutable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2 essais seulement, une petite zone, et une position estimée par les roues sans recalage par le LiDAR.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/ 22 · trait = moyenne des 2 essais · bande colorée = écart entre les 2 essais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 · JUMEAU NUMÉRIQUE · POURQUOI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Rejouer la zone réelle dans Gazebo</a:t>
            </a:r>
            <a:endParaRPr lang="en-US" sz="3200"/>
          </a:p>
        </p:txBody>
      </p:sp>
      <p:pic>
        <p:nvPicPr>
          <p:cNvPr id="4" name="Image 0" descr="Vidéo Gazebo : le robot simulé en stratégie A dans la copie de la zone réelle, rayons LiDAR en bleu"/>
          <p:cNvPicPr>
            <a:picLocks noChangeAspect="1"/>
          </p:cNvPicPr>
          <p:nvPr/>
        </p:nvPicPr>
        <p:blipFill>
          <a:blip r:embed="rId3"/>
          <a:srcRect t="132" b="132"/>
          <a:stretch/>
        </p:blipFill>
        <p:spPr>
          <a:xfrm>
            <a:off x="812800" y="1798327"/>
            <a:ext cx="5715000" cy="3022600"/>
          </a:xfrm>
          <a:prstGeom prst="roundRect">
            <a:avLst>
              <a:gd name="adj" fmla="val 2521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2800" y="4897127"/>
            <a:ext cx="58864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zone réelle reproduite, stratégie A.</a:t>
            </a:r>
            <a:endParaRPr lang="en-US" sz="1300"/>
          </a:p>
        </p:txBody>
      </p:sp>
      <p:sp>
        <p:nvSpPr>
          <p:cNvPr id="6" name="Text 3"/>
          <p:cNvSpPr/>
          <p:nvPr/>
        </p:nvSpPr>
        <p:spPr>
          <a:xfrm>
            <a:off x="6832600" y="2527300"/>
            <a:ext cx="4546600" cy="777240"/>
          </a:xfrm>
          <a:prstGeom prst="roundRect">
            <a:avLst>
              <a:gd name="adj" fmla="val 9804"/>
            </a:avLst>
          </a:prstGeom>
          <a:solidFill>
            <a:srgbClr val="ECE8DE"/>
          </a:solidFill>
          <a:ln/>
        </p:spPr>
        <p:txBody>
          <a:bodyPr wrap="square" lIns="155482" tIns="117382" rIns="29752" bIns="919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Pourquoi</a:t>
            </a: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vérifier les résultats réels dans un monde où la position est parfaite.</a:t>
            </a:r>
            <a:endParaRPr lang="en-US" sz="1400"/>
          </a:p>
        </p:txBody>
      </p:sp>
      <p:sp>
        <p:nvSpPr>
          <p:cNvPr id="7" name="Text 4"/>
          <p:cNvSpPr/>
          <p:nvPr/>
        </p:nvSpPr>
        <p:spPr>
          <a:xfrm>
            <a:off x="6832600" y="3431542"/>
            <a:ext cx="4546600" cy="777240"/>
          </a:xfrm>
          <a:prstGeom prst="roundRect">
            <a:avLst>
              <a:gd name="adj" fmla="val 9804"/>
            </a:avLst>
          </a:prstGeom>
          <a:solidFill>
            <a:srgbClr val="ECE8DE"/>
          </a:solidFill>
          <a:ln/>
        </p:spPr>
        <p:txBody>
          <a:bodyPr wrap="square" lIns="155482" tIns="117382" rIns="29752" bIns="919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Comment</a:t>
            </a: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chaque mur de la carte réelle devient un bloc dans Gazebo.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832600" y="4335785"/>
            <a:ext cx="4546600" cy="777240"/>
          </a:xfrm>
          <a:prstGeom prst="roundRect">
            <a:avLst>
              <a:gd name="adj" fmla="val 9804"/>
            </a:avLst>
          </a:prstGeom>
          <a:solidFill>
            <a:srgbClr val="ECE8DE"/>
          </a:solidFill>
          <a:ln/>
        </p:spPr>
        <p:txBody>
          <a:bodyPr wrap="square" lIns="155482" tIns="117382" rIns="29752" bIns="9198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Mêmes programmes</a:t>
            </a:r>
            <a:r>
              <a:rPr lang="en-US" sz="14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mêmes réglages, même départ.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 / 22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 · JUMEAU NUMÉRIQUE · STRATÉGIE A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: même distance, mais il couvre plus dans Gazebo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798327"/>
            <a:ext cx="6096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Stratégie A : jumeau Gazebo à 83 % en 5 minutes, au-dessus des deux essais réels à 73 et 75 %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798327"/>
            <a:ext cx="6096000" cy="3429000"/>
          </a:xfrm>
          <a:prstGeom prst="roundRect">
            <a:avLst>
              <a:gd name="adj" fmla="val 2222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162800" y="2798452"/>
            <a:ext cx="4216400" cy="1196340"/>
          </a:xfrm>
          <a:prstGeom prst="roundRect">
            <a:avLst>
              <a:gd name="adj" fmla="val 6369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15200" y="2925452"/>
            <a:ext cx="402894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5 min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7315200" y="3156583"/>
            <a:ext cx="40289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83 % </a:t>
            </a:r>
            <a:r>
              <a:rPr lang="en-US" sz="2000" b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jumeau</a:t>
            </a:r>
            <a:endParaRPr lang="en-US" sz="2000"/>
          </a:p>
        </p:txBody>
      </p:sp>
      <p:sp>
        <p:nvSpPr>
          <p:cNvPr id="9" name="Text 6"/>
          <p:cNvSpPr/>
          <p:nvPr/>
        </p:nvSpPr>
        <p:spPr>
          <a:xfrm>
            <a:off x="7315200" y="3512183"/>
            <a:ext cx="40289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>
                <a:solidFill>
                  <a:srgbClr val="B04A0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74 % </a:t>
            </a:r>
            <a:r>
              <a:rPr lang="en-US" sz="2000" b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réel</a:t>
            </a:r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7162800" y="4121783"/>
            <a:ext cx="4342892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réel, A longeait les murs, dans la bande non comptée, et sa position dérivait.</a:t>
            </a:r>
            <a:endParaRPr lang="en-US" sz="1350"/>
          </a:p>
        </p:txBody>
      </p:sp>
      <p:sp>
        <p:nvSpPr>
          <p:cNvPr id="11" name="Text 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 / 22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5 · JUMEAU NUMÉRIQUE · STRATÉGIE B ET CONCLUSION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: le suiveur confirme, Nav2 bloque encore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798327"/>
            <a:ext cx="6096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Stratégie B : suiveur réel 98 %, suiveur dans le jumeau 93 %, Nav2 dans le jumeau bloqué à 68 %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798327"/>
            <a:ext cx="6096000" cy="3429000"/>
          </a:xfrm>
          <a:prstGeom prst="roundRect">
            <a:avLst>
              <a:gd name="adj" fmla="val 2222"/>
            </a:avLst>
          </a:prstGeom>
        </p:spPr>
      </p:pic>
      <p:sp>
        <p:nvSpPr>
          <p:cNvPr id="6" name="Text 3"/>
          <p:cNvSpPr/>
          <p:nvPr/>
        </p:nvSpPr>
        <p:spPr>
          <a:xfrm>
            <a:off x="7162800" y="2604777"/>
            <a:ext cx="4216400" cy="734060"/>
          </a:xfrm>
          <a:prstGeom prst="roundRect">
            <a:avLst>
              <a:gd name="adj" fmla="val 10381"/>
            </a:avLst>
          </a:prstGeom>
          <a:solidFill>
            <a:srgbClr val="F6F4EE"/>
          </a:solidFill>
          <a:ln/>
        </p:spPr>
        <p:txBody>
          <a:bodyPr wrap="square" lIns="130082" tIns="104682" rIns="12734" bIns="792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Suiveur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93 % dans le jumeau, 98 % en réel, 10 m dans les deux.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7162800" y="3453135"/>
            <a:ext cx="4216400" cy="734060"/>
          </a:xfrm>
          <a:prstGeom prst="roundRect">
            <a:avLst>
              <a:gd name="adj" fmla="val 10381"/>
            </a:avLst>
          </a:prstGeom>
          <a:solidFill>
            <a:srgbClr val="F6F4EE"/>
          </a:solidFill>
          <a:ln/>
        </p:spPr>
        <p:txBody>
          <a:bodyPr wrap="square" lIns="130082" tIns="104682" rIns="12734" bIns="792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Nav2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 bloque à 68 % contre un mur en biais : la zone étroite le gêne aussi.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7162800" y="4301492"/>
            <a:ext cx="4216400" cy="734060"/>
          </a:xfrm>
          <a:prstGeom prst="roundRect">
            <a:avLst>
              <a:gd name="adj" fmla="val 10381"/>
            </a:avLst>
          </a:prstGeom>
          <a:solidFill>
            <a:srgbClr val="D3E1EE"/>
          </a:solidFill>
          <a:ln/>
        </p:spPr>
        <p:txBody>
          <a:bodyPr wrap="square" lIns="130082" tIns="104682" rIns="12734" bIns="79282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Conclusion</a:t>
            </a:r>
            <a:r>
              <a:rPr lang="en-US" sz="135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le résultat réel de B ne semble pas dû à l'odométrie.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/ 22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6 · CONCLUSION · LIMITES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nos mesures ne prouvent pas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812800" y="1798327"/>
            <a:ext cx="5207000" cy="1945640"/>
          </a:xfrm>
          <a:prstGeom prst="roundRect">
            <a:avLst>
              <a:gd name="adj" fmla="val 5222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016000" y="2001527"/>
            <a:ext cx="494461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Peu d'essais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1016000" y="2352042"/>
            <a:ext cx="494461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+ 7 en simulation, 2 + 2 en réel. Une seule pièce en simulation, une seule zone en réel.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6172200" y="1798327"/>
            <a:ext cx="5207000" cy="1945640"/>
          </a:xfrm>
          <a:prstGeom prst="roundRect">
            <a:avLst>
              <a:gd name="adj" fmla="val 5222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375400" y="2001527"/>
            <a:ext cx="494461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Position du robot réel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375400" y="2352042"/>
            <a:ext cx="494461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Estimée par les roues seules, sans recalage par le LiDAR : elle se décale un peu à chaque virage.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812800" y="3896358"/>
            <a:ext cx="5207000" cy="1945640"/>
          </a:xfrm>
          <a:prstGeom prst="roundRect">
            <a:avLst>
              <a:gd name="adj" fmla="val 5222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16000" y="4099558"/>
            <a:ext cx="494461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Bords non nettoyés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1016000" y="4450085"/>
            <a:ext cx="494461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reste à 20 cm des murs. Bande exclue de la mesure, pour A comme pour B.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6172200" y="3896358"/>
            <a:ext cx="5207000" cy="1945640"/>
          </a:xfrm>
          <a:prstGeom prst="roundRect">
            <a:avLst>
              <a:gd name="adj" fmla="val 5222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75400" y="4099558"/>
            <a:ext cx="494461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pas toujours fiable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6375400" y="4450085"/>
            <a:ext cx="494461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Simulation : 4 essais sur 7 bloqués. Réel : 1 incident sur 3.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21 / 22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6 · CONCLUSION GÉNÉRALE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Prochaines étapes vers un produit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812800" y="1798327"/>
            <a:ext cx="4851400" cy="787400"/>
          </a:xfrm>
          <a:prstGeom prst="roundRect">
            <a:avLst>
              <a:gd name="adj" fmla="val 9677"/>
            </a:avLst>
          </a:prstGeom>
          <a:solidFill>
            <a:srgbClr val="ECE8DE"/>
          </a:solidFill>
          <a:ln/>
        </p:spPr>
        <p:txBody>
          <a:bodyPr wrap="square" lIns="155482" tIns="104682" rIns="20608" bIns="7928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Corriger notre mesure : ignorer les positions impossibles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812800" y="2700027"/>
            <a:ext cx="4851400" cy="520700"/>
          </a:xfrm>
          <a:prstGeom prst="roundRect">
            <a:avLst>
              <a:gd name="adj" fmla="val 14634"/>
            </a:avLst>
          </a:prstGeom>
          <a:solidFill>
            <a:srgbClr val="ECE8DE"/>
          </a:solidFill>
          <a:ln/>
        </p:spPr>
        <p:txBody>
          <a:bodyPr wrap="square" lIns="155482" tIns="104682" rIns="20608" bIns="7928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Recaler la position avec le LiDAR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812800" y="3335027"/>
            <a:ext cx="4851400" cy="520700"/>
          </a:xfrm>
          <a:prstGeom prst="roundRect">
            <a:avLst>
              <a:gd name="adj" fmla="val 14634"/>
            </a:avLst>
          </a:prstGeom>
          <a:solidFill>
            <a:srgbClr val="ECE8DE"/>
          </a:solidFill>
          <a:ln/>
        </p:spPr>
        <p:txBody>
          <a:bodyPr wrap="square" lIns="155482" tIns="104682" rIns="20608" bIns="7928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Moins de rotations sur place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12800" y="3970027"/>
            <a:ext cx="4851400" cy="520700"/>
          </a:xfrm>
          <a:prstGeom prst="roundRect">
            <a:avLst>
              <a:gd name="adj" fmla="val 14634"/>
            </a:avLst>
          </a:prstGeom>
          <a:solidFill>
            <a:srgbClr val="ECE8DE"/>
          </a:solidFill>
          <a:ln/>
        </p:spPr>
        <p:txBody>
          <a:bodyPr wrap="square" lIns="155482" tIns="104682" rIns="20608" bIns="7928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</a:t>
            </a:r>
            <a:r>
              <a:rPr lang="en-US" sz="15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 tour le long des murs à la fin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12800" y="4605027"/>
            <a:ext cx="499694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Chaque étape : 0,5 à 1 jour, avec sa mesure de succès.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969000" y="1798327"/>
            <a:ext cx="5410200" cy="4043680"/>
          </a:xfrm>
          <a:prstGeom prst="roundRect">
            <a:avLst>
              <a:gd name="adj" fmla="val 2513"/>
            </a:avLst>
          </a:prstGeom>
          <a:solidFill>
            <a:srgbClr val="D3E1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248400" y="2776227"/>
            <a:ext cx="49969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RÉPONSE À LA QUESTION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6248400" y="3141985"/>
            <a:ext cx="4996942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Oui, planifier aide</a:t>
            </a:r>
            <a:r>
              <a:rPr lang="en-US" sz="18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sur le vrai robot, 80 % en 2 min contre jamais.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6248400" y="3911600"/>
            <a:ext cx="499694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À une condition : un conducteur fiable. Nav2 a été notre maillon faible.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 / 22 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290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POUR LES QUESTIONS</a:t>
            </a:r>
            <a:endParaRPr lang="en-US" sz="1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981200"/>
            <a:ext cx="1088339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Annexes</a:t>
            </a:r>
            <a:endParaRPr lang="en-US" sz="5600"/>
          </a:p>
        </p:txBody>
      </p:sp>
      <p:sp>
        <p:nvSpPr>
          <p:cNvPr id="4" name="Text 2"/>
          <p:cNvSpPr/>
          <p:nvPr/>
        </p:nvSpPr>
        <p:spPr>
          <a:xfrm>
            <a:off x="812800" y="2931158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A1 · Algorigramme de la stratégie A (random_walker)</a:t>
            </a:r>
            <a:endParaRPr lang="en-US" sz="1700"/>
          </a:p>
        </p:txBody>
      </p:sp>
      <p:sp>
        <p:nvSpPr>
          <p:cNvPr id="5" name="Text 3"/>
          <p:cNvSpPr/>
          <p:nvPr/>
        </p:nvSpPr>
        <p:spPr>
          <a:xfrm>
            <a:off x="812800" y="3309627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Algorigramme du planner B (coverage_planner)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812800" y="3688085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A3 · Algorigramme du suiveur (robot réel)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812800" y="4066542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A4 · Algorigramme de la mesure (coverage_tracker)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812800" y="444500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A5 · Bugs et leçons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812800" y="4823458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A6 · Références</a:t>
            </a:r>
            <a:endParaRPr lang="en-US" sz="17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381758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POUR LES QUESTIONS</a:t>
            </a:r>
            <a:endParaRPr lang="en-US" sz="14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833885"/>
            <a:ext cx="1088339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Annexes</a:t>
            </a:r>
            <a:endParaRPr lang="en-US" sz="5600"/>
          </a:p>
        </p:txBody>
      </p:sp>
      <p:sp>
        <p:nvSpPr>
          <p:cNvPr id="4" name="Text 2"/>
          <p:cNvSpPr/>
          <p:nvPr/>
        </p:nvSpPr>
        <p:spPr>
          <a:xfrm>
            <a:off x="812800" y="2838916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A1 · Algorigramme de la stratégie A (random_walker)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12800" y="327996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A2 · Algorigramme du planner B (coverage_planner)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12800" y="372104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A3 · Algorigramme du suiveur (robot réel)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812800" y="416086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A4 · Algorigramme de la mesure (coverage_tracker)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12800" y="456663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A5 · Bugs et leçons</a:t>
            </a:r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812800" y="4972391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A6 · rqt_graph de A</a:t>
            </a:r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12800" y="537815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A7 · rqt_graph de B</a:t>
            </a:r>
            <a:endParaRPr lang="en-US"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ANNEXE A1 · ALGORIGRAMME DU RANDOM_WALKER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Stratégie A : décider 10 fois par seconde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1689100"/>
            <a:ext cx="10566400" cy="327660"/>
          </a:xfrm>
          <a:prstGeom prst="roundRect">
            <a:avLst>
              <a:gd name="adj" fmla="val 50000"/>
            </a:avLst>
          </a:prstGeom>
          <a:solidFill>
            <a:srgbClr val="172236"/>
          </a:solidFill>
          <a:ln/>
        </p:spPr>
        <p:txBody>
          <a:bodyPr wrap="square" lIns="0" tIns="9166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Toutes les 0,1 s</a:t>
            </a:r>
            <a:endParaRPr lang="en-US" sz="1200"/>
          </a:p>
        </p:txBody>
      </p:sp>
      <p:pic>
        <p:nvPicPr>
          <p:cNvPr id="5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2500" y="2054858"/>
            <a:ext cx="127000" cy="12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325" y="2233302"/>
            <a:ext cx="5985510" cy="339090"/>
          </a:xfrm>
          <a:prstGeom prst="roundRect">
            <a:avLst>
              <a:gd name="adj" fmla="val 19663"/>
            </a:avLst>
          </a:prstGeom>
          <a:solidFill>
            <a:srgbClr val="FFFFFF"/>
          </a:solidFill>
          <a:ln w="19050">
            <a:solidFill>
              <a:srgbClr val="B04A06"/>
            </a:solidFill>
            <a:prstDash val="solid"/>
          </a:ln>
        </p:spPr>
        <p:txBody>
          <a:bodyPr wrap="square" lIns="14304" tIns="43337" rIns="14305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 scan LiDAR a-t-il été reçu ?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6941606" y="2219958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8960" y="2433327"/>
            <a:ext cx="355600" cy="152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76160" y="2239008"/>
            <a:ext cx="400304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35365" tIns="34832" rIns="35365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Vitesse nulle</a:t>
            </a:r>
            <a:endParaRPr lang="en-US" sz="1200"/>
          </a:p>
        </p:txBody>
      </p:sp>
      <p:pic>
        <p:nvPicPr>
          <p:cNvPr id="10" name="Image 2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89387" y="2667000"/>
            <a:ext cx="127000" cy="12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2587" y="2623827"/>
            <a:ext cx="260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</a:t>
            </a:r>
            <a:endParaRPr lang="en-US" sz="1200"/>
          </a:p>
        </p:txBody>
      </p:sp>
      <p:sp>
        <p:nvSpPr>
          <p:cNvPr id="12" name="Text 7"/>
          <p:cNvSpPr/>
          <p:nvPr/>
        </p:nvSpPr>
        <p:spPr>
          <a:xfrm>
            <a:off x="822325" y="2888617"/>
            <a:ext cx="5985510" cy="339090"/>
          </a:xfrm>
          <a:prstGeom prst="roundRect">
            <a:avLst>
              <a:gd name="adj" fmla="val 19663"/>
            </a:avLst>
          </a:prstGeom>
          <a:solidFill>
            <a:srgbClr val="FFFFFF"/>
          </a:solidFill>
          <a:ln w="19050">
            <a:solidFill>
              <a:srgbClr val="B04A06"/>
            </a:solidFill>
            <a:prstDash val="solid"/>
          </a:ln>
        </p:spPr>
        <p:txBody>
          <a:bodyPr wrap="square" lIns="14304" tIns="43337" rIns="14305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 train de tourner, et angle pas encore atteint ?</a:t>
            </a:r>
            <a:endParaRPr lang="en-US" sz="1200"/>
          </a:p>
        </p:txBody>
      </p:sp>
      <p:sp>
        <p:nvSpPr>
          <p:cNvPr id="13" name="Text 8"/>
          <p:cNvSpPr/>
          <p:nvPr/>
        </p:nvSpPr>
        <p:spPr>
          <a:xfrm>
            <a:off x="6966347" y="2875285"/>
            <a:ext cx="260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</a:t>
            </a:r>
            <a:endParaRPr lang="en-US" sz="1200"/>
          </a:p>
        </p:txBody>
      </p:sp>
      <p:pic>
        <p:nvPicPr>
          <p:cNvPr id="14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8960" y="3088642"/>
            <a:ext cx="355600" cy="152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76160" y="2894335"/>
            <a:ext cx="400304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35365" tIns="34832" rIns="35365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Continuer à tourner</a:t>
            </a:r>
            <a:endParaRPr lang="en-US" sz="1200"/>
          </a:p>
        </p:txBody>
      </p:sp>
      <p:pic>
        <p:nvPicPr>
          <p:cNvPr id="16" name="Image 4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5098" y="3322327"/>
            <a:ext cx="127000" cy="127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68298" y="3279142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sp>
        <p:nvSpPr>
          <p:cNvPr id="18" name="Text 11"/>
          <p:cNvSpPr/>
          <p:nvPr/>
        </p:nvSpPr>
        <p:spPr>
          <a:xfrm>
            <a:off x="822325" y="3631567"/>
            <a:ext cx="5985510" cy="339090"/>
          </a:xfrm>
          <a:prstGeom prst="roundRect">
            <a:avLst>
              <a:gd name="adj" fmla="val 19663"/>
            </a:avLst>
          </a:prstGeom>
          <a:solidFill>
            <a:srgbClr val="FFFFFF"/>
          </a:solidFill>
          <a:ln w="19050">
            <a:solidFill>
              <a:srgbClr val="B04A06"/>
            </a:solidFill>
            <a:prstDash val="solid"/>
          </a:ln>
        </p:spPr>
        <p:txBody>
          <a:bodyPr wrap="square" lIns="14304" tIns="43337" rIns="14305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Obstacle à moins de 25 cm devant (±30°) ?</a:t>
            </a:r>
            <a:endParaRPr lang="en-US" sz="1200"/>
          </a:p>
        </p:txBody>
      </p:sp>
      <p:sp>
        <p:nvSpPr>
          <p:cNvPr id="19" name="Text 12"/>
          <p:cNvSpPr/>
          <p:nvPr/>
        </p:nvSpPr>
        <p:spPr>
          <a:xfrm>
            <a:off x="6966347" y="3618235"/>
            <a:ext cx="260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</a:t>
            </a:r>
            <a:endParaRPr lang="en-US" sz="1200"/>
          </a:p>
        </p:txBody>
      </p:sp>
      <p:pic>
        <p:nvPicPr>
          <p:cNvPr id="20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8960" y="3831592"/>
            <a:ext cx="355600" cy="1524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376160" y="3530600"/>
            <a:ext cx="4003040" cy="541020"/>
          </a:xfrm>
          <a:prstGeom prst="roundRect">
            <a:avLst>
              <a:gd name="adj" fmla="val 14085"/>
            </a:avLst>
          </a:prstGeom>
          <a:solidFill>
            <a:srgbClr val="ECE8DE"/>
          </a:solidFill>
          <a:ln/>
        </p:spPr>
        <p:txBody>
          <a:bodyPr wrap="square" lIns="35365" tIns="34832" rIns="35365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Tirer un angle de 90 à 180°, gauche ou droite, et tourner</a:t>
            </a:r>
            <a:endParaRPr lang="en-US" sz="1200"/>
          </a:p>
        </p:txBody>
      </p:sp>
      <p:pic>
        <p:nvPicPr>
          <p:cNvPr id="22" name="Image 6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5098" y="4152900"/>
            <a:ext cx="127000" cy="1270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068298" y="4109727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sp>
        <p:nvSpPr>
          <p:cNvPr id="24" name="Text 15"/>
          <p:cNvSpPr/>
          <p:nvPr/>
        </p:nvSpPr>
        <p:spPr>
          <a:xfrm>
            <a:off x="812800" y="4361185"/>
            <a:ext cx="10566400" cy="327660"/>
          </a:xfrm>
          <a:prstGeom prst="roundRect">
            <a:avLst>
              <a:gd name="adj" fmla="val 23256"/>
            </a:avLst>
          </a:prstGeom>
          <a:solidFill>
            <a:srgbClr val="B04A06"/>
          </a:solidFill>
          <a:ln/>
        </p:spPr>
        <p:txBody>
          <a:bodyPr wrap="square" lIns="0" tIns="34832" rIns="0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Avancer tout droit à 0,15 m/s</a:t>
            </a:r>
            <a:endParaRPr lang="en-US" sz="1200"/>
          </a:p>
        </p:txBody>
      </p:sp>
      <p:sp>
        <p:nvSpPr>
          <p:cNvPr id="25" name="Text 1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Annexe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A1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ANNEXE A2 · ALGORIGRAMME DU COVERAGE_PLANNER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Stratégie B : de la carte au trajet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1689100"/>
            <a:ext cx="5080000" cy="327660"/>
          </a:xfrm>
          <a:prstGeom prst="roundRect">
            <a:avLst>
              <a:gd name="adj" fmla="val 50000"/>
            </a:avLst>
          </a:prstGeom>
          <a:solidFill>
            <a:srgbClr val="172236"/>
          </a:solidFill>
          <a:ln/>
        </p:spPr>
        <p:txBody>
          <a:bodyPr wrap="square" lIns="32788" tIns="9166" rIns="32788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Carte /map reçue (cases de 5 cm)</a:t>
            </a:r>
            <a:endParaRPr lang="en-US" sz="1200"/>
          </a:p>
        </p:txBody>
      </p:sp>
      <p:pic>
        <p:nvPicPr>
          <p:cNvPr id="5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89300" y="2054858"/>
            <a:ext cx="127000" cy="12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2219958"/>
            <a:ext cx="508000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19211" tIns="34832" rIns="19211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Libre si occupation &lt; 50, sinon obstacle ; inconnu = obstacle</a:t>
            </a:r>
            <a:endParaRPr lang="en-US" sz="1200"/>
          </a:p>
        </p:txBody>
      </p:sp>
      <p:pic>
        <p:nvPicPr>
          <p:cNvPr id="7" name="Image 1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89300" y="2585727"/>
            <a:ext cx="127000" cy="127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800" y="2750827"/>
            <a:ext cx="508000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19211" tIns="34832" rIns="19211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Érosion : une case reste libre si tout le disque de 20 cm autour est libre</a:t>
            </a:r>
            <a:endParaRPr lang="en-US" sz="1200"/>
          </a:p>
        </p:txBody>
      </p:sp>
      <p:pic>
        <p:nvPicPr>
          <p:cNvPr id="9" name="Image 2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89300" y="3116585"/>
            <a:ext cx="127000" cy="127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325" y="3291210"/>
            <a:ext cx="2693670" cy="55245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63682" tIns="43337" rIns="63682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La case de départ est-elle encore libre ?</a:t>
            </a:r>
            <a:endParaRPr lang="en-US" sz="1200"/>
          </a:p>
        </p:txBody>
      </p:sp>
      <p:sp>
        <p:nvSpPr>
          <p:cNvPr id="11" name="Text 6"/>
          <p:cNvSpPr/>
          <p:nvPr/>
        </p:nvSpPr>
        <p:spPr>
          <a:xfrm>
            <a:off x="3649766" y="3384550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pic>
        <p:nvPicPr>
          <p:cNvPr id="12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27120" y="3597908"/>
            <a:ext cx="355600" cy="1524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84320" y="3296927"/>
            <a:ext cx="1808480" cy="541020"/>
          </a:xfrm>
          <a:prstGeom prst="roundRect">
            <a:avLst>
              <a:gd name="adj" fmla="val 14085"/>
            </a:avLst>
          </a:prstGeom>
          <a:solidFill>
            <a:srgbClr val="ECE8DE"/>
          </a:solidFill>
          <a:ln/>
        </p:spPr>
        <p:txBody>
          <a:bodyPr wrap="square" lIns="66582" tIns="34832" rIns="66582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Prendre la case libre la plus proche</a:t>
            </a:r>
            <a:endParaRPr lang="en-US" sz="1200"/>
          </a:p>
        </p:txBody>
      </p:sp>
      <p:sp>
        <p:nvSpPr>
          <p:cNvPr id="14" name="Text 8"/>
          <p:cNvSpPr/>
          <p:nvPr/>
        </p:nvSpPr>
        <p:spPr>
          <a:xfrm>
            <a:off x="6197600" y="1689100"/>
            <a:ext cx="518160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17687" tIns="34832" rIns="17687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Parcours en largeur depuis le départ : la zone reliée est la zone à couvrir</a:t>
            </a:r>
            <a:endParaRPr lang="en-US" sz="1200"/>
          </a:p>
        </p:txBody>
      </p:sp>
      <p:pic>
        <p:nvPicPr>
          <p:cNvPr id="15" name="Image 4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2054858"/>
            <a:ext cx="127000" cy="127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97600" y="2219958"/>
            <a:ext cx="518160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17687" tIns="34832" rIns="17687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Lignes horizontales toutes les 20 cm, du bas vers le haut</a:t>
            </a:r>
            <a:endParaRPr lang="en-US" sz="1200"/>
          </a:p>
        </p:txBody>
      </p:sp>
      <p:pic>
        <p:nvPicPr>
          <p:cNvPr id="17" name="Image 5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2585727"/>
            <a:ext cx="127000" cy="1270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197600" y="2750827"/>
            <a:ext cx="518160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 chaque ligne : segments libres, garder leurs deux bouts, sens alterné</a:t>
            </a:r>
            <a:endParaRPr lang="en-US" sz="1200"/>
          </a:p>
        </p:txBody>
      </p:sp>
      <p:pic>
        <p:nvPicPr>
          <p:cNvPr id="19" name="Image 6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3116585"/>
            <a:ext cx="127000" cy="1270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197600" y="3281685"/>
            <a:ext cx="5181600" cy="327660"/>
          </a:xfrm>
          <a:prstGeom prst="roundRect">
            <a:avLst>
              <a:gd name="adj" fmla="val 23256"/>
            </a:avLst>
          </a:prstGeom>
          <a:solidFill>
            <a:srgbClr val="1F5F99"/>
          </a:solidFill>
          <a:ln/>
        </p:spPr>
        <p:txBody>
          <a:bodyPr wrap="square" lIns="17687" tIns="34832" rIns="17687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Publier la liste de points sur /coverage_path</a:t>
            </a:r>
            <a:endParaRPr lang="en-US" sz="1200"/>
          </a:p>
        </p:txBody>
      </p:sp>
      <p:sp>
        <p:nvSpPr>
          <p:cNvPr id="21" name="Text 1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Annexe A2 · colonne de gauche puis colonne de droite · la même zone à couvrir sert au nœud de mesure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ANNEXE A3 · ALGORIGRAMME DU COVERAGE_FOLLOWER (ROBOT RÉEL)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suiveur : tourner puis avancer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1689100"/>
            <a:ext cx="10566400" cy="327660"/>
          </a:xfrm>
          <a:prstGeom prst="roundRect">
            <a:avLst>
              <a:gd name="adj" fmla="val 50000"/>
            </a:avLst>
          </a:prstGeom>
          <a:solidFill>
            <a:srgbClr val="172236"/>
          </a:solidFill>
          <a:ln/>
        </p:spPr>
        <p:txBody>
          <a:bodyPr wrap="square" lIns="0" tIns="9166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Toutes les 0,1 s</a:t>
            </a:r>
            <a:endParaRPr lang="en-US" sz="1200"/>
          </a:p>
        </p:txBody>
      </p:sp>
      <p:pic>
        <p:nvPicPr>
          <p:cNvPr id="5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2500" y="2054858"/>
            <a:ext cx="127000" cy="12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325" y="2233302"/>
            <a:ext cx="5985510" cy="339090"/>
          </a:xfrm>
          <a:prstGeom prst="roundRect">
            <a:avLst>
              <a:gd name="adj" fmla="val 19663"/>
            </a:avLst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14304" tIns="43337" rIns="14305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LiDAR et position reçus depuis moins de 1 s ?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6941606" y="2219958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8960" y="2433327"/>
            <a:ext cx="355600" cy="152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76160" y="2239008"/>
            <a:ext cx="400304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35365" tIns="34832" rIns="35365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Arrêt (vitesse nulle)</a:t>
            </a:r>
            <a:endParaRPr lang="en-US" sz="1200"/>
          </a:p>
        </p:txBody>
      </p:sp>
      <p:pic>
        <p:nvPicPr>
          <p:cNvPr id="10" name="Image 2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89387" y="2667000"/>
            <a:ext cx="127000" cy="12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2587" y="2623827"/>
            <a:ext cx="260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</a:t>
            </a:r>
            <a:endParaRPr lang="en-US" sz="1200"/>
          </a:p>
        </p:txBody>
      </p:sp>
      <p:sp>
        <p:nvSpPr>
          <p:cNvPr id="12" name="Text 7"/>
          <p:cNvSpPr/>
          <p:nvPr/>
        </p:nvSpPr>
        <p:spPr>
          <a:xfrm>
            <a:off x="822325" y="2888617"/>
            <a:ext cx="5985510" cy="339090"/>
          </a:xfrm>
          <a:prstGeom prst="roundRect">
            <a:avLst>
              <a:gd name="adj" fmla="val 19663"/>
            </a:avLst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14304" tIns="43337" rIns="14305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Plus de 40 s sur ce point ?</a:t>
            </a:r>
            <a:endParaRPr lang="en-US" sz="1200"/>
          </a:p>
        </p:txBody>
      </p:sp>
      <p:sp>
        <p:nvSpPr>
          <p:cNvPr id="13" name="Text 8"/>
          <p:cNvSpPr/>
          <p:nvPr/>
        </p:nvSpPr>
        <p:spPr>
          <a:xfrm>
            <a:off x="6966347" y="2875285"/>
            <a:ext cx="260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</a:t>
            </a:r>
            <a:endParaRPr lang="en-US" sz="1200"/>
          </a:p>
        </p:txBody>
      </p:sp>
      <p:pic>
        <p:nvPicPr>
          <p:cNvPr id="14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8960" y="3088642"/>
            <a:ext cx="355600" cy="152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76160" y="2894335"/>
            <a:ext cx="400304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35365" tIns="34832" rIns="35365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Sauter ce point</a:t>
            </a:r>
            <a:endParaRPr lang="en-US" sz="1200"/>
          </a:p>
        </p:txBody>
      </p:sp>
      <p:pic>
        <p:nvPicPr>
          <p:cNvPr id="16" name="Image 4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5098" y="3322327"/>
            <a:ext cx="127000" cy="127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68298" y="3279142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sp>
        <p:nvSpPr>
          <p:cNvPr id="18" name="Text 11"/>
          <p:cNvSpPr/>
          <p:nvPr/>
        </p:nvSpPr>
        <p:spPr>
          <a:xfrm>
            <a:off x="822325" y="3543933"/>
            <a:ext cx="5985510" cy="339090"/>
          </a:xfrm>
          <a:prstGeom prst="roundRect">
            <a:avLst>
              <a:gd name="adj" fmla="val 19663"/>
            </a:avLst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14304" tIns="43337" rIns="14305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À moins de 8 cm du point ?</a:t>
            </a:r>
            <a:endParaRPr lang="en-US" sz="1200"/>
          </a:p>
        </p:txBody>
      </p:sp>
      <p:sp>
        <p:nvSpPr>
          <p:cNvPr id="19" name="Text 12"/>
          <p:cNvSpPr/>
          <p:nvPr/>
        </p:nvSpPr>
        <p:spPr>
          <a:xfrm>
            <a:off x="6966347" y="3530600"/>
            <a:ext cx="260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</a:t>
            </a:r>
            <a:endParaRPr lang="en-US" sz="1200"/>
          </a:p>
        </p:txBody>
      </p:sp>
      <p:pic>
        <p:nvPicPr>
          <p:cNvPr id="20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8960" y="3743958"/>
            <a:ext cx="355600" cy="1524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376160" y="3549650"/>
            <a:ext cx="400304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35365" tIns="34832" rIns="35365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Passer au point suivant</a:t>
            </a:r>
            <a:endParaRPr lang="en-US" sz="1200"/>
          </a:p>
        </p:txBody>
      </p:sp>
      <p:pic>
        <p:nvPicPr>
          <p:cNvPr id="22" name="Image 6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5098" y="3977642"/>
            <a:ext cx="127000" cy="1270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068298" y="3934458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sp>
        <p:nvSpPr>
          <p:cNvPr id="24" name="Text 15"/>
          <p:cNvSpPr/>
          <p:nvPr/>
        </p:nvSpPr>
        <p:spPr>
          <a:xfrm>
            <a:off x="822325" y="4199260"/>
            <a:ext cx="5985510" cy="339090"/>
          </a:xfrm>
          <a:prstGeom prst="roundRect">
            <a:avLst>
              <a:gd name="adj" fmla="val 19663"/>
            </a:avLst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14304" tIns="43337" rIns="14305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Écart de cap de plus de 20° ?</a:t>
            </a:r>
            <a:endParaRPr lang="en-US" sz="1200"/>
          </a:p>
        </p:txBody>
      </p:sp>
      <p:sp>
        <p:nvSpPr>
          <p:cNvPr id="25" name="Text 16"/>
          <p:cNvSpPr/>
          <p:nvPr/>
        </p:nvSpPr>
        <p:spPr>
          <a:xfrm>
            <a:off x="6966347" y="4185927"/>
            <a:ext cx="260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</a:t>
            </a:r>
            <a:endParaRPr lang="en-US" sz="1200"/>
          </a:p>
        </p:txBody>
      </p:sp>
      <p:pic>
        <p:nvPicPr>
          <p:cNvPr id="26" name="Image 7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8960" y="4399285"/>
            <a:ext cx="355600" cy="1524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76160" y="4204977"/>
            <a:ext cx="400304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35365" tIns="34832" rIns="35365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Tourner sur place vers le point</a:t>
            </a:r>
            <a:endParaRPr lang="en-US" sz="1200"/>
          </a:p>
        </p:txBody>
      </p:sp>
      <p:pic>
        <p:nvPicPr>
          <p:cNvPr id="28" name="Image 8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5098" y="4632958"/>
            <a:ext cx="127000" cy="1270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068298" y="4589785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sp>
        <p:nvSpPr>
          <p:cNvPr id="30" name="Text 19"/>
          <p:cNvSpPr/>
          <p:nvPr/>
        </p:nvSpPr>
        <p:spPr>
          <a:xfrm>
            <a:off x="822325" y="4854575"/>
            <a:ext cx="5985510" cy="339090"/>
          </a:xfrm>
          <a:prstGeom prst="roundRect">
            <a:avLst>
              <a:gd name="adj" fmla="val 19663"/>
            </a:avLst>
          </a:prstGeom>
          <a:solidFill>
            <a:srgbClr val="FFFFFF"/>
          </a:solidFill>
          <a:ln w="19050">
            <a:solidFill>
              <a:srgbClr val="1F5F99"/>
            </a:solidFill>
            <a:prstDash val="solid"/>
          </a:ln>
        </p:spPr>
        <p:txBody>
          <a:bodyPr wrap="square" lIns="14304" tIns="43337" rIns="14305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Obstacle à moins de 15 cm devant ?</a:t>
            </a:r>
            <a:endParaRPr lang="en-US" sz="1200"/>
          </a:p>
        </p:txBody>
      </p:sp>
      <p:sp>
        <p:nvSpPr>
          <p:cNvPr id="31" name="Text 20"/>
          <p:cNvSpPr/>
          <p:nvPr/>
        </p:nvSpPr>
        <p:spPr>
          <a:xfrm>
            <a:off x="6966347" y="4841242"/>
            <a:ext cx="260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</a:t>
            </a:r>
            <a:endParaRPr lang="en-US" sz="1200"/>
          </a:p>
        </p:txBody>
      </p:sp>
      <p:pic>
        <p:nvPicPr>
          <p:cNvPr id="32" name="Image 9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8960" y="5054600"/>
            <a:ext cx="355600" cy="1524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376160" y="4860292"/>
            <a:ext cx="400304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35365" tIns="34832" rIns="35365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Pause (ne pas avancer)</a:t>
            </a:r>
            <a:endParaRPr lang="en-US" sz="1200"/>
          </a:p>
        </p:txBody>
      </p:sp>
      <p:pic>
        <p:nvPicPr>
          <p:cNvPr id="34" name="Image 1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5098" y="5288285"/>
            <a:ext cx="127000" cy="12700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6068298" y="5245100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sp>
        <p:nvSpPr>
          <p:cNvPr id="36" name="Text 23"/>
          <p:cNvSpPr/>
          <p:nvPr/>
        </p:nvSpPr>
        <p:spPr>
          <a:xfrm>
            <a:off x="812800" y="5496558"/>
            <a:ext cx="10566400" cy="327660"/>
          </a:xfrm>
          <a:prstGeom prst="roundRect">
            <a:avLst>
              <a:gd name="adj" fmla="val 23256"/>
            </a:avLst>
          </a:prstGeom>
          <a:solidFill>
            <a:srgbClr val="1F5F99"/>
          </a:solidFill>
          <a:ln/>
        </p:spPr>
        <p:txBody>
          <a:bodyPr wrap="square" lIns="0" tIns="34832" rIns="0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Avancer à 0,10 m/s en corrigeant le cap</a:t>
            </a:r>
            <a:endParaRPr lang="en-US" sz="1200"/>
          </a:p>
        </p:txBody>
      </p:sp>
      <p:sp>
        <p:nvSpPr>
          <p:cNvPr id="37" name="Text 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Annexe A3 · position par la TF map → base_footprint (odométrie seule sur le robot réel)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17223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ANNEXE A4 · ALGORIGRAMME DU COVERAGE_TRACKER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mesure : la même pour A et pour B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812800" y="1689100"/>
            <a:ext cx="10566400" cy="327660"/>
          </a:xfrm>
          <a:prstGeom prst="roundRect">
            <a:avLst>
              <a:gd name="adj" fmla="val 50000"/>
            </a:avLst>
          </a:prstGeom>
          <a:solidFill>
            <a:srgbClr val="172236"/>
          </a:solidFill>
          <a:ln/>
        </p:spPr>
        <p:txBody>
          <a:bodyPr wrap="square" lIns="0" tIns="9166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Toutes les 0,1 s</a:t>
            </a:r>
            <a:endParaRPr lang="en-US" sz="1200"/>
          </a:p>
        </p:txBody>
      </p:sp>
      <p:pic>
        <p:nvPicPr>
          <p:cNvPr id="5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2500" y="2054858"/>
            <a:ext cx="127000" cy="12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325" y="2233302"/>
            <a:ext cx="5985510" cy="339090"/>
          </a:xfrm>
          <a:prstGeom prst="roundRect">
            <a:avLst>
              <a:gd name="adj" fmla="val 19663"/>
            </a:avLst>
          </a:prstGeom>
          <a:solidFill>
            <a:srgbClr val="FFFFFF"/>
          </a:solidFill>
          <a:ln w="19050">
            <a:solidFill>
              <a:srgbClr val="172236"/>
            </a:solidFill>
            <a:prstDash val="solid"/>
          </a:ln>
        </p:spPr>
        <p:txBody>
          <a:bodyPr wrap="square" lIns="14304" tIns="43337" rIns="14305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Position du robot connue (TF map → base_footprint) ?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6941606" y="2219958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8960" y="2433327"/>
            <a:ext cx="355600" cy="152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76160" y="2239008"/>
            <a:ext cx="400304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35365" tIns="34832" rIns="35365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Attendre</a:t>
            </a:r>
            <a:endParaRPr lang="en-US" sz="1200"/>
          </a:p>
        </p:txBody>
      </p:sp>
      <p:pic>
        <p:nvPicPr>
          <p:cNvPr id="10" name="Image 2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89387" y="2667000"/>
            <a:ext cx="127000" cy="12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2587" y="2623827"/>
            <a:ext cx="260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</a:t>
            </a:r>
            <a:endParaRPr lang="en-US" sz="1200"/>
          </a:p>
        </p:txBody>
      </p:sp>
      <p:sp>
        <p:nvSpPr>
          <p:cNvPr id="12" name="Text 7"/>
          <p:cNvSpPr/>
          <p:nvPr/>
        </p:nvSpPr>
        <p:spPr>
          <a:xfrm>
            <a:off x="822325" y="2888617"/>
            <a:ext cx="5985510" cy="339090"/>
          </a:xfrm>
          <a:prstGeom prst="roundRect">
            <a:avLst>
              <a:gd name="adj" fmla="val 19663"/>
            </a:avLst>
          </a:prstGeom>
          <a:solidFill>
            <a:srgbClr val="FFFFFF"/>
          </a:solidFill>
          <a:ln w="19050">
            <a:solidFill>
              <a:srgbClr val="172236"/>
            </a:solidFill>
            <a:prstDash val="solid"/>
          </a:ln>
        </p:spPr>
        <p:txBody>
          <a:bodyPr wrap="square" lIns="14304" tIns="43337" rIns="14305" bIns="17937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◆</a:t>
            </a: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Le robot a-t-il bougé de plus de 1 cm depuis le départ ?</a:t>
            </a:r>
            <a:endParaRPr lang="en-US" sz="1200"/>
          </a:p>
        </p:txBody>
      </p:sp>
      <p:sp>
        <p:nvSpPr>
          <p:cNvPr id="13" name="Text 8"/>
          <p:cNvSpPr/>
          <p:nvPr/>
        </p:nvSpPr>
        <p:spPr>
          <a:xfrm>
            <a:off x="6941606" y="2875285"/>
            <a:ext cx="3102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</a:t>
            </a:r>
            <a:endParaRPr lang="en-US" sz="1200"/>
          </a:p>
        </p:txBody>
      </p:sp>
      <p:pic>
        <p:nvPicPr>
          <p:cNvPr id="14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8960" y="3088642"/>
            <a:ext cx="355600" cy="152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76160" y="2894335"/>
            <a:ext cx="400304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35365" tIns="34832" rIns="35365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Mesure pas encore commencée</a:t>
            </a:r>
            <a:endParaRPr lang="en-US" sz="1200"/>
          </a:p>
        </p:txBody>
      </p:sp>
      <p:pic>
        <p:nvPicPr>
          <p:cNvPr id="16" name="Image 4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89387" y="3322327"/>
            <a:ext cx="127000" cy="127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92587" y="3279142"/>
            <a:ext cx="2608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4A52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</a:t>
            </a:r>
            <a:endParaRPr lang="en-US" sz="1200"/>
          </a:p>
        </p:txBody>
      </p:sp>
      <p:sp>
        <p:nvSpPr>
          <p:cNvPr id="18" name="Text 11"/>
          <p:cNvSpPr/>
          <p:nvPr/>
        </p:nvSpPr>
        <p:spPr>
          <a:xfrm>
            <a:off x="812800" y="3530600"/>
            <a:ext cx="1056640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0" tIns="34832" rIns="0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Ajouter le déplacement à la distance parcourue</a:t>
            </a:r>
            <a:endParaRPr lang="en-US" sz="1200"/>
          </a:p>
        </p:txBody>
      </p:sp>
      <p:pic>
        <p:nvPicPr>
          <p:cNvPr id="19" name="Image 5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2500" y="3896358"/>
            <a:ext cx="127000" cy="127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12800" y="4061458"/>
            <a:ext cx="10566400" cy="327660"/>
          </a:xfrm>
          <a:prstGeom prst="roundRect">
            <a:avLst>
              <a:gd name="adj" fmla="val 23256"/>
            </a:avLst>
          </a:prstGeom>
          <a:solidFill>
            <a:srgbClr val="ECE8DE"/>
          </a:solidFill>
          <a:ln/>
        </p:spPr>
        <p:txBody>
          <a:bodyPr wrap="square" lIns="0" tIns="34832" rIns="0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Marquer couvertes les cases à moins de 10 cm du robot, dans la zone à couvrir</a:t>
            </a:r>
            <a:endParaRPr lang="en-US" sz="1200"/>
          </a:p>
        </p:txBody>
      </p:sp>
      <p:pic>
        <p:nvPicPr>
          <p:cNvPr id="21" name="Image 6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2500" y="4427227"/>
            <a:ext cx="127000" cy="1270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12800" y="4592327"/>
            <a:ext cx="10566400" cy="327660"/>
          </a:xfrm>
          <a:prstGeom prst="roundRect">
            <a:avLst>
              <a:gd name="adj" fmla="val 23256"/>
            </a:avLst>
          </a:prstGeom>
          <a:solidFill>
            <a:srgbClr val="172236"/>
          </a:solidFill>
          <a:ln/>
        </p:spPr>
        <p:txBody>
          <a:bodyPr wrap="square" lIns="0" tIns="34832" rIns="0" bIns="9432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Chaque seconde : % = couvertes / à couvrir → /coverage_status, /coverage_map, CSV</a:t>
            </a:r>
            <a:endParaRPr lang="en-US" sz="1200"/>
          </a:p>
        </p:txBody>
      </p:sp>
      <p:sp>
        <p:nvSpPr>
          <p:cNvPr id="23" name="Text 1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Annexe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A4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ANNEXE A5 · BUGS ET LEÇONS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qui a mal marché, et ce qu'on en retient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812800" y="1689100"/>
            <a:ext cx="5226050" cy="1308100"/>
          </a:xfrm>
          <a:prstGeom prst="roundRect">
            <a:avLst>
              <a:gd name="adj" fmla="val 5825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65200" y="1816100"/>
            <a:ext cx="50688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robot était mal placé sur la carte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965200" y="2067558"/>
            <a:ext cx="506888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Décalé de 2 m : la mesure ne comptait presque rien. </a:t>
            </a:r>
            <a:r>
              <a:rPr lang="en-US" sz="12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Leçon</a:t>
            </a: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vérifier chaque hypothèse par une mesure.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6153150" y="1689100"/>
            <a:ext cx="5226050" cy="1308100"/>
          </a:xfrm>
          <a:prstGeom prst="roundRect">
            <a:avLst>
              <a:gd name="adj" fmla="val 5825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305550" y="1816100"/>
            <a:ext cx="50688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Simulation accélérée trompeuse pour B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6305550" y="2067558"/>
            <a:ext cx="506888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 % final, mais le robot sautait des points. </a:t>
            </a:r>
            <a:r>
              <a:rPr lang="en-US" sz="12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Leçon</a:t>
            </a: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juger sur plusieurs critères.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812800" y="3111500"/>
            <a:ext cx="5226050" cy="1308100"/>
          </a:xfrm>
          <a:prstGeom prst="roundRect">
            <a:avLst>
              <a:gd name="adj" fmla="val 5825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65200" y="3238500"/>
            <a:ext cx="50688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Programme qui ne s'arrêtait jamais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965200" y="3489958"/>
            <a:ext cx="5073650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4,8 Go de mémoire occupés. </a:t>
            </a:r>
            <a:r>
              <a:rPr lang="en-US" sz="12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Leçon</a:t>
            </a: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toute attente doit avoir une sortie.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6153150" y="3111500"/>
            <a:ext cx="5226050" cy="1308100"/>
          </a:xfrm>
          <a:prstGeom prst="roundRect">
            <a:avLst>
              <a:gd name="adj" fmla="val 5825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305550" y="3238500"/>
            <a:ext cx="50688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Nav2 qui se bloque (B)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6305550" y="3489958"/>
            <a:ext cx="506888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essais sur 7, cause non trouvée. </a:t>
            </a:r>
            <a:r>
              <a:rPr lang="en-US" sz="12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Leçon</a:t>
            </a: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garder les mauvais essais, la fiabilité compte.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812800" y="4533900"/>
            <a:ext cx="5226050" cy="1308100"/>
          </a:xfrm>
          <a:prstGeom prst="roundRect">
            <a:avLst>
              <a:gd name="adj" fmla="val 5825"/>
            </a:avLst>
          </a:prstGeom>
          <a:solidFill>
            <a:srgbClr val="ECE8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65200" y="4660900"/>
            <a:ext cx="50688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Horloge du vrai robot fausse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965200" y="4912358"/>
            <a:ext cx="5068888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Messages rejetés, essais figés. </a:t>
            </a:r>
            <a:r>
              <a:rPr lang="en-US" sz="12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Leçon</a:t>
            </a: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vérifier l'heure avant chaque séance.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6153150" y="4533900"/>
            <a:ext cx="5226050" cy="1308100"/>
          </a:xfrm>
          <a:prstGeom prst="roundRect">
            <a:avLst>
              <a:gd name="adj" fmla="val 5825"/>
            </a:avLst>
          </a:prstGeom>
          <a:solidFill>
            <a:srgbClr val="F3DCC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305550" y="4660900"/>
            <a:ext cx="50688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Notre mesure acceptait l'impossible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305550" y="4912358"/>
            <a:ext cx="506888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465 m « roulés » en 10 min. </a:t>
            </a:r>
            <a:r>
              <a:rPr lang="en-US" sz="1200" b="1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Leçon</a:t>
            </a:r>
            <a:r>
              <a:rPr lang="en-US" sz="12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rejeter les sauts de position.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Annexe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A5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ANNEXE A6 · RÉFÉRENCES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5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883841" y="1798327"/>
            <a:ext cx="10804731" cy="194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959" indent="-182959" algn="l">
              <a:lnSpc>
                <a:spcPts val="1885"/>
              </a:lnSpc>
              <a:buSzPct val="100000"/>
              <a:buFontTx/>
              <a:buAutoNum type="arabicPeriod"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E. Galceran, M. Carreras, « A survey on coverage path planning for robotics », Robotics and Autonomous Systems, 61(12), 2013.</a:t>
            </a:r>
            <a:endParaRPr lang="en-US" sz="1300"/>
          </a:p>
          <a:p>
            <a:pPr marL="182959" indent="-182959" algn="l">
              <a:lnSpc>
                <a:spcPts val="1885"/>
              </a:lnSpc>
              <a:buSzPct val="100000"/>
              <a:buFontTx/>
              <a:buAutoNum type="arabicPeriod"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H. Choset, « Coverage for robotics – A survey of recent results », Annals of Mathematics and Artificial Intelligence, 31, 2001.</a:t>
            </a:r>
            <a:endParaRPr lang="en-US" sz="1300"/>
          </a:p>
          <a:p>
            <a:pPr marL="182959" indent="-182959" algn="l">
              <a:lnSpc>
                <a:spcPts val="1885"/>
              </a:lnSpc>
              <a:buSzPct val="100000"/>
              <a:buFontTx/>
              <a:buAutoNum type="arabicPeriod"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J. Jones, « Robots at the tipping point: the road to iRobot Roomba », IEEE Robotics &amp; Automation Magazine, 13(1), 2006.</a:t>
            </a:r>
            <a:endParaRPr lang="en-US" sz="1300"/>
          </a:p>
          <a:p>
            <a:pPr marL="182959" indent="-182959" algn="l">
              <a:lnSpc>
                <a:spcPts val="1885"/>
              </a:lnSpc>
              <a:buSzPct val="100000"/>
              <a:buFontTx/>
              <a:buAutoNum type="arabicPeriod"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H. Choset, P. Pignon, « Coverage path planning: the boustrophedon cellular decomposition », Field and Service Robotics, 1997.</a:t>
            </a:r>
            <a:endParaRPr lang="en-US" sz="1300"/>
          </a:p>
          <a:p>
            <a:pPr marL="182959" indent="-182959" algn="l">
              <a:lnSpc>
                <a:spcPts val="1885"/>
              </a:lnSpc>
              <a:buSzPct val="100000"/>
              <a:buFontTx/>
              <a:buAutoNum type="arabicPeriod"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Y. Gabriely, E. Rimon, « Spanning-tree based coverage of continuous areas by a mobile robot », AMAI 31, 2001 et ICRA 2001.</a:t>
            </a:r>
            <a:endParaRPr lang="en-US" sz="1300"/>
          </a:p>
          <a:p>
            <a:pPr marL="182959" indent="-182959" algn="l">
              <a:lnSpc>
                <a:spcPts val="1885"/>
              </a:lnSpc>
              <a:buSzPct val="100000"/>
              <a:buFontTx/>
              <a:buAutoNum type="arabicPeriod"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Navigation, opennav_coverage (Nav2), github.com/open-navigation/opennav_coverage ; G. Mier et al., « Fields2Cover », IEEE RA-L, 2023.</a:t>
            </a:r>
            <a:endParaRPr lang="en-US" sz="1300"/>
          </a:p>
          <a:p>
            <a:pPr marL="182959" indent="-182959" algn="l">
              <a:lnSpc>
                <a:spcPts val="1885"/>
              </a:lnSpc>
              <a:buSzPct val="100000"/>
              <a:buFontTx/>
              <a:buAutoNum type="arabicPeriod"/>
            </a:pPr>
            <a:r>
              <a:rPr lang="en-US" sz="1300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ROBOTIS, documentation TurtleBot3 (SLAM et navigation), docs.robotis.com.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Annexe A6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>
                <a:solidFill>
                  <a:srgbClr val="B04A0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ANNEXE A6 · RQT_GRAPH DE LA STRATÉGIE A</a:t>
            </a:r>
            <a:endParaRPr lang="en-US" sz="120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58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Stratégie A en marche : nos nœuds et leurs topics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812800" y="1739900"/>
            <a:ext cx="10566400" cy="355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Graphe rqt_graph de A : /scan va vers random_walker et coverage_tracker ; random_walker publie /cmd_vel ; coverage_tracker lit /tf et /map et publie /coverage_status et /coverage_map"/>
          <p:cNvPicPr>
            <a:picLocks noChangeAspect="1"/>
          </p:cNvPicPr>
          <p:nvPr/>
        </p:nvPicPr>
        <p:blipFill>
          <a:blip r:embed="rId3"/>
          <a:srcRect t="-2837" b="-2837"/>
          <a:stretch/>
        </p:blipFill>
        <p:spPr>
          <a:xfrm>
            <a:off x="812800" y="1739900"/>
            <a:ext cx="10566400" cy="355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Annexe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A6 · graphe produit par </a:t>
            </a: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rqt_graph</a:t>
            </a:r>
            <a:endParaRPr lang="en-US"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5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kern="0" spc="100">
                <a:solidFill>
                  <a:srgbClr val="1F5F99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ANNEXE A7 · RQT_GRAPH DE LA STRATÉGIE B</a:t>
            </a:r>
            <a:endParaRPr lang="en-US" sz="1196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5383"/>
            <a:ext cx="10883392" cy="42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70"/>
              </a:lnSpc>
              <a:buNone/>
            </a:pPr>
            <a:r>
              <a:rPr lang="en-US" sz="2756" b="1" i="0">
                <a:solidFill>
                  <a:srgbClr val="1722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Stratégie B en marche : nos nœuds et leurs topics</a:t>
            </a:r>
            <a:endParaRPr lang="en-US" sz="2756"/>
          </a:p>
        </p:txBody>
      </p:sp>
      <p:sp>
        <p:nvSpPr>
          <p:cNvPr id="4" name="Shape 2"/>
          <p:cNvSpPr/>
          <p:nvPr/>
        </p:nvSpPr>
        <p:spPr>
          <a:xfrm>
            <a:off x="812800" y="1730697"/>
            <a:ext cx="10566400" cy="35034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" name="Image 0" descr="Graphe rqt_graph de B : /map vers coverage_planner et coverage_tracker ; coverage_planner publie /coverage_path ; coverage_executor lit /coverage_path, /amcl_pose et /odom, publie /initialpose et appelle l action follow_waypoints ; coverage_tracker publie /coverage_status et /coverage_map"/>
          <p:cNvPicPr>
            <a:picLocks noChangeAspect="1"/>
          </p:cNvPicPr>
          <p:nvPr/>
        </p:nvPicPr>
        <p:blipFill>
          <a:blip r:embed="rId3"/>
          <a:srcRect t="-11595" b="-11595"/>
          <a:stretch/>
        </p:blipFill>
        <p:spPr>
          <a:xfrm>
            <a:off x="812800" y="1730697"/>
            <a:ext cx="10566400" cy="35034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386561"/>
            <a:ext cx="10883392" cy="480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9"/>
              </a:lnSpc>
              <a:buNone/>
            </a:pPr>
            <a:r>
              <a:rPr lang="en-US" sz="1292">
                <a:solidFill>
                  <a:srgbClr val="3A44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Pointillés bleus = action Nav2 appelée par coverage_executor. Les nœuds de Nav2, AMCL et Gazebo sont masqués. Correspond au schéma de la slide 7.</a:t>
            </a:r>
            <a:endParaRPr lang="en-US" sz="1292"/>
          </a:p>
        </p:txBody>
      </p:sp>
      <p:sp>
        <p:nvSpPr>
          <p:cNvPr id="7" name="Text 4"/>
          <p:cNvSpPr/>
          <p:nvPr/>
        </p:nvSpPr>
        <p:spPr>
          <a:xfrm>
            <a:off x="812800" y="6238255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Annexe</a:t>
            </a:r>
            <a:r>
              <a:rPr lang="en-US" sz="1200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A7 · graphe produit par </a:t>
            </a:r>
            <a:r>
              <a:rPr lang="en-US" sz="1200" err="1">
                <a:solidFill>
                  <a:srgbClr val="6A71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rqt_graph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bot aspirateur autonome — CCPP avec ROS 2">
  <a:themeElements>
    <a:clrScheme name="Robot aspirateur autonome — CCPP avec ROS 2">
      <a:dk1>
        <a:srgbClr val="172236"/>
      </a:dk1>
      <a:lt1>
        <a:srgbClr val="FFFFFF"/>
      </a:lt1>
      <a:dk2>
        <a:srgbClr val="515968"/>
      </a:dk2>
      <a:lt2>
        <a:srgbClr val="E8E9EB"/>
      </a:lt2>
      <a:accent1>
        <a:srgbClr val="B04A06"/>
      </a:accent1>
      <a:accent2>
        <a:srgbClr val="1F5F99"/>
      </a:accent2>
      <a:accent3>
        <a:srgbClr val="F3DCC6"/>
      </a:accent3>
      <a:accent4>
        <a:srgbClr val="ECE8DE"/>
      </a:accent4>
      <a:accent5>
        <a:srgbClr val="4A5263"/>
      </a:accent5>
      <a:accent6>
        <a:srgbClr val="3A4456"/>
      </a:accent6>
      <a:hlink>
        <a:srgbClr val="0563C1"/>
      </a:hlink>
      <a:folHlink>
        <a:srgbClr val="954F72"/>
      </a:folHlink>
    </a:clrScheme>
    <a:fontScheme name="Robot aspirateur autonome — CCPP avec ROS 2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3370</Words>
  <Application>Microsoft Office PowerPoint</Application>
  <PresentationFormat>Widescreen</PresentationFormat>
  <Paragraphs>411</Paragraphs>
  <Slides>32</Slides>
  <Notes>32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IBM Plex Mono</vt:lpstr>
      <vt:lpstr>IBM Plex Sans</vt:lpstr>
      <vt:lpstr>Robot aspirateur autonome — CCPP avec ROS 2</vt:lpstr>
      <vt:lpstr>Robot aspirateur autonome</vt:lpstr>
      <vt:lpstr>Notre fil : du problème à la réponse</vt:lpstr>
      <vt:lpstr>Passer partout, sans rien oublier</vt:lpstr>
      <vt:lpstr>Cinq idées connues, deux testées</vt:lpstr>
      <vt:lpstr>Deux stratégies simples</vt:lpstr>
      <vt:lpstr>A : le robot réagit à son LiDAR, sans carte</vt:lpstr>
      <vt:lpstr>B : on planifie sur la carte, Nav2 conduit</vt:lpstr>
      <vt:lpstr>Simulation : une pièce de 5,5 × 5 m à 9 piliers</vt:lpstr>
      <vt:lpstr>A : il couvre au hasard, et repasse souvent</vt:lpstr>
      <vt:lpstr>B : en bandes régulières… quand Nav2 ne se bloque pas</vt:lpstr>
      <vt:lpstr>En simulation : le plan est bon, Nav2 le freine</vt:lpstr>
      <vt:lpstr>Le terrain réel : une zone en carton de 1,6 m²</vt:lpstr>
      <vt:lpstr>A sur le vrai robot : plafonne vers 74 %</vt:lpstr>
      <vt:lpstr>Sur le vrai robot, Nav2 ne fait pas rouler le robot</vt:lpstr>
      <vt:lpstr>Notre solution : un suiveur simple</vt:lpstr>
      <vt:lpstr>B avec le suiveur : 80 % en 2 min, trajet fini</vt:lpstr>
      <vt:lpstr>Sur le vrai robot, B fait mieux, à confirmer</vt:lpstr>
      <vt:lpstr>Rejouer la zone réelle dans Gazebo</vt:lpstr>
      <vt:lpstr>A : même distance, mais il couvre plus dans Gazebo</vt:lpstr>
      <vt:lpstr>B : le suiveur confirme, Nav2 bloque encore</vt:lpstr>
      <vt:lpstr>Ce que nos mesures ne prouvent pas</vt:lpstr>
      <vt:lpstr>Prochaines étapes vers un produit</vt:lpstr>
      <vt:lpstr>Annexes</vt:lpstr>
      <vt:lpstr>Annexes</vt:lpstr>
      <vt:lpstr>Stratégie A : décider 10 fois par seconde</vt:lpstr>
      <vt:lpstr>Stratégie B : de la carte au trajet</vt:lpstr>
      <vt:lpstr>Le suiveur : tourner puis avancer</vt:lpstr>
      <vt:lpstr>La mesure : la même pour A et pour B</vt:lpstr>
      <vt:lpstr>Ce qui a mal marché, et ce qu'on en retient</vt:lpstr>
      <vt:lpstr>Sources</vt:lpstr>
      <vt:lpstr>Stratégie A en marche : nos nœuds et leurs topics</vt:lpstr>
      <vt:lpstr>Stratégie B en marche : nos nœuds et leurs topics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aspirateur autonome — CCPP avec ROS 2</dc:title>
  <dc:subject/>
  <dc:creator>Maxime Coquet</dc:creator>
  <cp:lastModifiedBy>Maxime COQUET</cp:lastModifiedBy>
  <cp:revision>1</cp:revision>
  <dcterms:created xsi:type="dcterms:W3CDTF">2026-10-13T13:18:46Z</dcterms:created>
  <dcterms:modified xsi:type="dcterms:W3CDTF">2026-10-14T21:46:11Z</dcterms:modified>
</cp:coreProperties>
</file>